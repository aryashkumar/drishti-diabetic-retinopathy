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IBM Plex Sans Medium" panose="020B0603050203000203" pitchFamily="34" charset="0"/>
      <p:regular r:id="rId11"/>
    </p:embeddedFont>
    <p:embeddedFont>
      <p:font typeface="Roboto" panose="02000000000000000000" pitchFamily="2"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44" d="100"/>
          <a:sy n="44" d="100"/>
        </p:scale>
        <p:origin x="1330" y="3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04.05.2026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sv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2242A"/>
            </a:solidFill>
            <a:ln w="12700">
              <a:solidFill>
                <a:srgbClr val="000000"/>
              </a:solidFill>
            </a:ln>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92C32"/>
            </a:solidFill>
            <a:ln w="12700">
              <a:solidFill>
                <a:srgbClr val="000000"/>
              </a:solidFill>
            </a:ln>
          </p:spPr>
        </p:sp>
      </p:grpSp>
      <p:grpSp>
        <p:nvGrpSpPr>
          <p:cNvPr id="6" name="Group 6"/>
          <p:cNvGrpSpPr>
            <a:grpSpLocks noChangeAspect="1"/>
          </p:cNvGrpSpPr>
          <p:nvPr/>
        </p:nvGrpSpPr>
        <p:grpSpPr>
          <a:xfrm>
            <a:off x="16049019" y="9686925"/>
            <a:ext cx="2153256" cy="514350"/>
            <a:chOff x="0" y="0"/>
            <a:chExt cx="2871008" cy="685800"/>
          </a:xfrm>
        </p:grpSpPr>
        <p:sp>
          <p:nvSpPr>
            <p:cNvPr id="7" name="Freeform 7" descr="preencoded.png">
              <a:hlinkClick r:id="rId3" tooltip="https://gamma.app/?utm_source=made-with-gamma"/>
            </p:cNvPr>
            <p:cNvSpPr/>
            <p:nvPr/>
          </p:nvSpPr>
          <p:spPr>
            <a:xfrm>
              <a:off x="0" y="0"/>
              <a:ext cx="2870962" cy="685800"/>
            </a:xfrm>
            <a:custGeom>
              <a:avLst/>
              <a:gdLst/>
              <a:ahLst/>
              <a:cxnLst/>
              <a:rect l="l" t="t" r="r" b="b"/>
              <a:pathLst>
                <a:path w="2870962" h="685800">
                  <a:moveTo>
                    <a:pt x="0" y="0"/>
                  </a:moveTo>
                  <a:lnTo>
                    <a:pt x="2870962" y="0"/>
                  </a:lnTo>
                  <a:lnTo>
                    <a:pt x="2870962" y="685800"/>
                  </a:lnTo>
                  <a:lnTo>
                    <a:pt x="0" y="685800"/>
                  </a:lnTo>
                  <a:lnTo>
                    <a:pt x="0" y="0"/>
                  </a:lnTo>
                  <a:close/>
                </a:path>
              </a:pathLst>
            </a:custGeom>
            <a:blipFill>
              <a:blip r:embed="rId4"/>
              <a:stretch>
                <a:fillRect r="-1"/>
              </a:stretch>
            </a:blipFill>
          </p:spPr>
        </p:sp>
      </p:grpSp>
      <p:grpSp>
        <p:nvGrpSpPr>
          <p:cNvPr id="8" name="Group 8"/>
          <p:cNvGrpSpPr>
            <a:grpSpLocks noChangeAspect="1"/>
          </p:cNvGrpSpPr>
          <p:nvPr/>
        </p:nvGrpSpPr>
        <p:grpSpPr>
          <a:xfrm>
            <a:off x="11430000" y="0"/>
            <a:ext cx="6858000" cy="10287000"/>
            <a:chOff x="0" y="0"/>
            <a:chExt cx="9144000" cy="13716000"/>
          </a:xfrm>
        </p:grpSpPr>
        <p:sp>
          <p:nvSpPr>
            <p:cNvPr id="9" name="Freeform 9"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5"/>
              <a:stretch>
                <a:fillRect/>
              </a:stretch>
            </a:blipFill>
          </p:spPr>
        </p:sp>
      </p:grpSp>
      <p:sp>
        <p:nvSpPr>
          <p:cNvPr id="10" name="TextBox 10"/>
          <p:cNvSpPr txBox="1"/>
          <p:nvPr/>
        </p:nvSpPr>
        <p:spPr>
          <a:xfrm>
            <a:off x="992238" y="2005756"/>
            <a:ext cx="9445526" cy="2600520"/>
          </a:xfrm>
          <a:prstGeom prst="rect">
            <a:avLst/>
          </a:prstGeom>
        </p:spPr>
        <p:txBody>
          <a:bodyPr lIns="0" tIns="0" rIns="0" bIns="0" rtlCol="0" anchor="t">
            <a:spAutoFit/>
          </a:bodyPr>
          <a:lstStyle/>
          <a:p>
            <a:pPr algn="l">
              <a:lnSpc>
                <a:spcPts val="6937"/>
              </a:lnSpc>
            </a:pPr>
            <a:r>
              <a:rPr lang="en-US" sz="5562" b="1" dirty="0">
                <a:solidFill>
                  <a:srgbClr val="F3F3F2"/>
                </a:solidFill>
                <a:latin typeface="Times New Roman" panose="02020603050405020304" pitchFamily="18" charset="0"/>
                <a:ea typeface="IBM Plex Sans Medium"/>
                <a:cs typeface="Times New Roman" panose="02020603050405020304" pitchFamily="18" charset="0"/>
                <a:sym typeface="IBM Plex Sans Medium"/>
              </a:rPr>
              <a:t>Drishti: Preventing Blindness Through AI-Powered Diabetic Retinopathy Detection</a:t>
            </a:r>
          </a:p>
        </p:txBody>
      </p:sp>
      <p:sp>
        <p:nvSpPr>
          <p:cNvPr id="11" name="TextBox 11"/>
          <p:cNvSpPr txBox="1"/>
          <p:nvPr/>
        </p:nvSpPr>
        <p:spPr>
          <a:xfrm>
            <a:off x="992238" y="5898654"/>
            <a:ext cx="9445526" cy="1796967"/>
          </a:xfrm>
          <a:prstGeom prst="rect">
            <a:avLst/>
          </a:prstGeom>
        </p:spPr>
        <p:txBody>
          <a:bodyPr lIns="0" tIns="0" rIns="0" bIns="0" rtlCol="0" anchor="t">
            <a:spAutoFit/>
          </a:bodyPr>
          <a:lstStyle/>
          <a:p>
            <a:pPr algn="l">
              <a:lnSpc>
                <a:spcPts val="3562"/>
              </a:lnSpc>
            </a:pPr>
            <a:r>
              <a:rPr lang="en-US" sz="2187" dirty="0">
                <a:solidFill>
                  <a:srgbClr val="D4D4D1"/>
                </a:solidFill>
                <a:latin typeface="Times New Roman" panose="02020603050405020304" pitchFamily="18" charset="0"/>
                <a:ea typeface="Roboto"/>
                <a:cs typeface="Times New Roman" panose="02020603050405020304" pitchFamily="18" charset="0"/>
                <a:sym typeface="Roboto"/>
              </a:rPr>
              <a:t>Introducing Drishti: an innovative web application transforming ophthalmology through artificial intelligence. By leveraging advanced AI models to detect and predict Diabetic Retinopathy (DR) and its associated risks, Drishti addresses one of the leading causes of preventable blindness in diabetic patients worldwide.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2242A"/>
            </a:solidFill>
            <a:ln w="12700">
              <a:solidFill>
                <a:srgbClr val="000000"/>
              </a:solidFill>
            </a:ln>
          </p:spPr>
        </p:sp>
      </p:grpSp>
      <p:grpSp>
        <p:nvGrpSpPr>
          <p:cNvPr id="4" name="Group 4"/>
          <p:cNvGrpSpPr/>
          <p:nvPr/>
        </p:nvGrpSpPr>
        <p:grpSpPr>
          <a:xfrm>
            <a:off x="-74"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92C32"/>
            </a:solidFill>
            <a:ln w="12700">
              <a:solidFill>
                <a:srgbClr val="000000"/>
              </a:solidFill>
            </a:ln>
          </p:spPr>
        </p:sp>
      </p:grpSp>
      <p:sp>
        <p:nvSpPr>
          <p:cNvPr id="6" name="TextBox 6"/>
          <p:cNvSpPr txBox="1"/>
          <p:nvPr/>
        </p:nvSpPr>
        <p:spPr>
          <a:xfrm>
            <a:off x="992238" y="1855291"/>
            <a:ext cx="15238362" cy="844718"/>
          </a:xfrm>
          <a:prstGeom prst="rect">
            <a:avLst/>
          </a:prstGeom>
        </p:spPr>
        <p:txBody>
          <a:bodyPr wrap="square" lIns="0" tIns="0" rIns="0" bIns="0" rtlCol="0" anchor="t">
            <a:spAutoFit/>
          </a:bodyPr>
          <a:lstStyle/>
          <a:p>
            <a:pPr algn="l">
              <a:lnSpc>
                <a:spcPts val="6937"/>
              </a:lnSpc>
            </a:pPr>
            <a:r>
              <a:rPr lang="en-US" sz="5562" b="1" dirty="0">
                <a:solidFill>
                  <a:srgbClr val="F3F3F2"/>
                </a:solidFill>
                <a:latin typeface="Times New Roman" panose="02020603050405020304" pitchFamily="18" charset="0"/>
                <a:ea typeface="IBM Plex Sans Medium"/>
                <a:cs typeface="Times New Roman" panose="02020603050405020304" pitchFamily="18" charset="0"/>
                <a:sym typeface="IBM Plex Sans Medium"/>
              </a:rPr>
              <a:t>    The Growing Threat of Diabetic Retinopathy</a:t>
            </a:r>
          </a:p>
        </p:txBody>
      </p:sp>
      <p:sp>
        <p:nvSpPr>
          <p:cNvPr id="7" name="TextBox 7"/>
          <p:cNvSpPr txBox="1"/>
          <p:nvPr/>
        </p:nvSpPr>
        <p:spPr>
          <a:xfrm>
            <a:off x="992238" y="3602385"/>
            <a:ext cx="5198269" cy="936154"/>
          </a:xfrm>
          <a:prstGeom prst="rect">
            <a:avLst/>
          </a:prstGeom>
        </p:spPr>
        <p:txBody>
          <a:bodyPr lIns="0" tIns="0" rIns="0" bIns="0" rtlCol="0" anchor="t">
            <a:spAutoFit/>
          </a:bodyPr>
          <a:lstStyle/>
          <a:p>
            <a:pPr algn="ctr">
              <a:lnSpc>
                <a:spcPts val="7312"/>
              </a:lnSpc>
            </a:pPr>
            <a:r>
              <a:rPr lang="en-US" sz="7312" b="1" dirty="0">
                <a:solidFill>
                  <a:srgbClr val="D4D4D1"/>
                </a:solidFill>
                <a:latin typeface="Times New Roman" panose="02020603050405020304" pitchFamily="18" charset="0"/>
                <a:ea typeface="IBM Plex Sans Medium"/>
                <a:cs typeface="Times New Roman" panose="02020603050405020304" pitchFamily="18" charset="0"/>
                <a:sym typeface="IBM Plex Sans Medium"/>
              </a:rPr>
              <a:t>537M</a:t>
            </a:r>
          </a:p>
        </p:txBody>
      </p:sp>
      <p:sp>
        <p:nvSpPr>
          <p:cNvPr id="8" name="TextBox 8"/>
          <p:cNvSpPr txBox="1"/>
          <p:nvPr/>
        </p:nvSpPr>
        <p:spPr>
          <a:xfrm>
            <a:off x="1819275" y="4749254"/>
            <a:ext cx="3544044" cy="452437"/>
          </a:xfrm>
          <a:prstGeom prst="rect">
            <a:avLst/>
          </a:prstGeom>
        </p:spPr>
        <p:txBody>
          <a:bodyPr lIns="0" tIns="0" rIns="0" bIns="0" rtlCol="0" anchor="t">
            <a:spAutoFit/>
          </a:bodyPr>
          <a:lstStyle/>
          <a:p>
            <a:pPr algn="ctr">
              <a:lnSpc>
                <a:spcPts val="3437"/>
              </a:lnSpc>
            </a:pPr>
            <a:r>
              <a:rPr lang="en-US" sz="2750" b="1">
                <a:solidFill>
                  <a:srgbClr val="D4D4D1"/>
                </a:solidFill>
                <a:latin typeface="IBM Plex Sans Medium"/>
                <a:ea typeface="IBM Plex Sans Medium"/>
                <a:cs typeface="IBM Plex Sans Medium"/>
                <a:sym typeface="IBM Plex Sans Medium"/>
              </a:rPr>
              <a:t>Global diabetics</a:t>
            </a:r>
          </a:p>
        </p:txBody>
      </p:sp>
      <p:sp>
        <p:nvSpPr>
          <p:cNvPr id="9" name="TextBox 9"/>
          <p:cNvSpPr txBox="1"/>
          <p:nvPr/>
        </p:nvSpPr>
        <p:spPr>
          <a:xfrm>
            <a:off x="992238" y="5276552"/>
            <a:ext cx="5198269" cy="880049"/>
          </a:xfrm>
          <a:prstGeom prst="rect">
            <a:avLst/>
          </a:prstGeom>
        </p:spPr>
        <p:txBody>
          <a:bodyPr lIns="0" tIns="0" rIns="0" bIns="0" rtlCol="0" anchor="t">
            <a:spAutoFit/>
          </a:bodyPr>
          <a:lstStyle/>
          <a:p>
            <a:pPr algn="ctr">
              <a:lnSpc>
                <a:spcPts val="3562"/>
              </a:lnSpc>
            </a:pPr>
            <a:r>
              <a:rPr lang="en-US" sz="2400" dirty="0">
                <a:solidFill>
                  <a:srgbClr val="D4D4D1"/>
                </a:solidFill>
                <a:latin typeface="Times New Roman" panose="02020603050405020304" pitchFamily="18" charset="0"/>
                <a:ea typeface="Roboto"/>
                <a:cs typeface="Times New Roman" panose="02020603050405020304" pitchFamily="18" charset="0"/>
                <a:sym typeface="Roboto"/>
              </a:rPr>
              <a:t>Adults living with diabetes worldwide in 2021</a:t>
            </a:r>
          </a:p>
        </p:txBody>
      </p:sp>
      <p:sp>
        <p:nvSpPr>
          <p:cNvPr id="10" name="TextBox 10"/>
          <p:cNvSpPr txBox="1"/>
          <p:nvPr/>
        </p:nvSpPr>
        <p:spPr>
          <a:xfrm>
            <a:off x="6544866" y="3602385"/>
            <a:ext cx="5198269" cy="936154"/>
          </a:xfrm>
          <a:prstGeom prst="rect">
            <a:avLst/>
          </a:prstGeom>
        </p:spPr>
        <p:txBody>
          <a:bodyPr lIns="0" tIns="0" rIns="0" bIns="0" rtlCol="0" anchor="t">
            <a:spAutoFit/>
          </a:bodyPr>
          <a:lstStyle/>
          <a:p>
            <a:pPr algn="ctr">
              <a:lnSpc>
                <a:spcPts val="7312"/>
              </a:lnSpc>
            </a:pPr>
            <a:r>
              <a:rPr lang="en-US" sz="7312" b="1" dirty="0">
                <a:solidFill>
                  <a:srgbClr val="D4D4D1"/>
                </a:solidFill>
                <a:latin typeface="Times New Roman" panose="02020603050405020304" pitchFamily="18" charset="0"/>
                <a:ea typeface="IBM Plex Sans Medium"/>
                <a:cs typeface="Times New Roman" panose="02020603050405020304" pitchFamily="18" charset="0"/>
                <a:sym typeface="IBM Plex Sans Medium"/>
              </a:rPr>
              <a:t>84%</a:t>
            </a:r>
          </a:p>
        </p:txBody>
      </p:sp>
      <p:sp>
        <p:nvSpPr>
          <p:cNvPr id="11" name="TextBox 11"/>
          <p:cNvSpPr txBox="1"/>
          <p:nvPr/>
        </p:nvSpPr>
        <p:spPr>
          <a:xfrm>
            <a:off x="7371904" y="4749254"/>
            <a:ext cx="3544044" cy="452437"/>
          </a:xfrm>
          <a:prstGeom prst="rect">
            <a:avLst/>
          </a:prstGeom>
        </p:spPr>
        <p:txBody>
          <a:bodyPr lIns="0" tIns="0" rIns="0" bIns="0" rtlCol="0" anchor="t">
            <a:spAutoFit/>
          </a:bodyPr>
          <a:lstStyle/>
          <a:p>
            <a:pPr algn="ctr">
              <a:lnSpc>
                <a:spcPts val="3437"/>
              </a:lnSpc>
            </a:pPr>
            <a:r>
              <a:rPr lang="en-US" sz="2750" b="1">
                <a:solidFill>
                  <a:srgbClr val="D4D4D1"/>
                </a:solidFill>
                <a:latin typeface="IBM Plex Sans Medium"/>
                <a:ea typeface="IBM Plex Sans Medium"/>
                <a:cs typeface="IBM Plex Sans Medium"/>
                <a:sym typeface="IBM Plex Sans Medium"/>
              </a:rPr>
              <a:t>Unaware patients</a:t>
            </a:r>
          </a:p>
        </p:txBody>
      </p:sp>
      <p:sp>
        <p:nvSpPr>
          <p:cNvPr id="12" name="TextBox 12"/>
          <p:cNvSpPr txBox="1"/>
          <p:nvPr/>
        </p:nvSpPr>
        <p:spPr>
          <a:xfrm>
            <a:off x="6544866" y="5276552"/>
            <a:ext cx="5198269" cy="873637"/>
          </a:xfrm>
          <a:prstGeom prst="rect">
            <a:avLst/>
          </a:prstGeom>
        </p:spPr>
        <p:txBody>
          <a:bodyPr lIns="0" tIns="0" rIns="0" bIns="0" rtlCol="0" anchor="t">
            <a:spAutoFit/>
          </a:bodyPr>
          <a:lstStyle/>
          <a:p>
            <a:pPr algn="ctr">
              <a:lnSpc>
                <a:spcPts val="3562"/>
              </a:lnSpc>
            </a:pPr>
            <a:r>
              <a:rPr lang="en-US" sz="2400" dirty="0">
                <a:solidFill>
                  <a:srgbClr val="D4D4D1"/>
                </a:solidFill>
                <a:latin typeface="Times New Roman" panose="02020603050405020304" pitchFamily="18" charset="0"/>
                <a:ea typeface="Roboto"/>
                <a:cs typeface="Times New Roman" panose="02020603050405020304" pitchFamily="18" charset="0"/>
                <a:sym typeface="Roboto"/>
              </a:rPr>
              <a:t>Diabetics who don't know they have the condition</a:t>
            </a:r>
          </a:p>
        </p:txBody>
      </p:sp>
      <p:sp>
        <p:nvSpPr>
          <p:cNvPr id="13" name="TextBox 13"/>
          <p:cNvSpPr txBox="1"/>
          <p:nvPr/>
        </p:nvSpPr>
        <p:spPr>
          <a:xfrm>
            <a:off x="12097494" y="3602385"/>
            <a:ext cx="5198269" cy="936154"/>
          </a:xfrm>
          <a:prstGeom prst="rect">
            <a:avLst/>
          </a:prstGeom>
        </p:spPr>
        <p:txBody>
          <a:bodyPr lIns="0" tIns="0" rIns="0" bIns="0" rtlCol="0" anchor="t">
            <a:spAutoFit/>
          </a:bodyPr>
          <a:lstStyle/>
          <a:p>
            <a:pPr algn="ctr">
              <a:lnSpc>
                <a:spcPts val="7312"/>
              </a:lnSpc>
            </a:pPr>
            <a:r>
              <a:rPr lang="en-US" sz="7312" b="1" dirty="0">
                <a:solidFill>
                  <a:srgbClr val="D4D4D1"/>
                </a:solidFill>
                <a:latin typeface="Times New Roman" panose="02020603050405020304" pitchFamily="18" charset="0"/>
                <a:ea typeface="IBM Plex Sans Medium"/>
                <a:cs typeface="Times New Roman" panose="02020603050405020304" pitchFamily="18" charset="0"/>
                <a:sym typeface="IBM Plex Sans Medium"/>
              </a:rPr>
              <a:t>#1</a:t>
            </a:r>
          </a:p>
        </p:txBody>
      </p:sp>
      <p:sp>
        <p:nvSpPr>
          <p:cNvPr id="14" name="TextBox 14"/>
          <p:cNvSpPr txBox="1"/>
          <p:nvPr/>
        </p:nvSpPr>
        <p:spPr>
          <a:xfrm>
            <a:off x="12924533" y="4749254"/>
            <a:ext cx="3544044" cy="452437"/>
          </a:xfrm>
          <a:prstGeom prst="rect">
            <a:avLst/>
          </a:prstGeom>
        </p:spPr>
        <p:txBody>
          <a:bodyPr lIns="0" tIns="0" rIns="0" bIns="0" rtlCol="0" anchor="t">
            <a:spAutoFit/>
          </a:bodyPr>
          <a:lstStyle/>
          <a:p>
            <a:pPr algn="ctr">
              <a:lnSpc>
                <a:spcPts val="3437"/>
              </a:lnSpc>
            </a:pPr>
            <a:r>
              <a:rPr lang="en-US" sz="2750" b="1">
                <a:solidFill>
                  <a:srgbClr val="D4D4D1"/>
                </a:solidFill>
                <a:latin typeface="IBM Plex Sans Medium"/>
                <a:ea typeface="IBM Plex Sans Medium"/>
                <a:cs typeface="IBM Plex Sans Medium"/>
                <a:sym typeface="IBM Plex Sans Medium"/>
              </a:rPr>
              <a:t>Leading cause</a:t>
            </a:r>
          </a:p>
        </p:txBody>
      </p:sp>
      <p:sp>
        <p:nvSpPr>
          <p:cNvPr id="15" name="TextBox 15"/>
          <p:cNvSpPr txBox="1"/>
          <p:nvPr/>
        </p:nvSpPr>
        <p:spPr>
          <a:xfrm>
            <a:off x="12097494" y="5276552"/>
            <a:ext cx="5198269" cy="873637"/>
          </a:xfrm>
          <a:prstGeom prst="rect">
            <a:avLst/>
          </a:prstGeom>
        </p:spPr>
        <p:txBody>
          <a:bodyPr lIns="0" tIns="0" rIns="0" bIns="0" rtlCol="0" anchor="t">
            <a:spAutoFit/>
          </a:bodyPr>
          <a:lstStyle/>
          <a:p>
            <a:pPr algn="ctr">
              <a:lnSpc>
                <a:spcPts val="3562"/>
              </a:lnSpc>
            </a:pPr>
            <a:r>
              <a:rPr lang="en-US" sz="2400" dirty="0">
                <a:solidFill>
                  <a:srgbClr val="D4D4D1"/>
                </a:solidFill>
                <a:latin typeface="Times New Roman" panose="02020603050405020304" pitchFamily="18" charset="0"/>
                <a:ea typeface="Roboto"/>
                <a:cs typeface="Times New Roman" panose="02020603050405020304" pitchFamily="18" charset="0"/>
                <a:sym typeface="Roboto"/>
              </a:rPr>
              <a:t>DR is the primary cause of blindness in working-age adults</a:t>
            </a:r>
          </a:p>
        </p:txBody>
      </p:sp>
      <p:sp>
        <p:nvSpPr>
          <p:cNvPr id="16" name="TextBox 16"/>
          <p:cNvSpPr txBox="1"/>
          <p:nvPr/>
        </p:nvSpPr>
        <p:spPr>
          <a:xfrm>
            <a:off x="992238" y="6502747"/>
            <a:ext cx="16303526" cy="2277034"/>
          </a:xfrm>
          <a:prstGeom prst="rect">
            <a:avLst/>
          </a:prstGeom>
        </p:spPr>
        <p:txBody>
          <a:bodyPr lIns="0" tIns="0" rIns="0" bIns="0" rtlCol="0" anchor="t">
            <a:spAutoFit/>
          </a:bodyPr>
          <a:lstStyle/>
          <a:p>
            <a:pPr algn="l">
              <a:lnSpc>
                <a:spcPts val="3562"/>
              </a:lnSpc>
            </a:pPr>
            <a:r>
              <a:rPr lang="en-US" sz="2800" dirty="0">
                <a:solidFill>
                  <a:srgbClr val="D4D4D1"/>
                </a:solidFill>
                <a:latin typeface="Times New Roman" panose="02020603050405020304" pitchFamily="18" charset="0"/>
                <a:ea typeface="Roboto"/>
                <a:cs typeface="Times New Roman" panose="02020603050405020304" pitchFamily="18" charset="0"/>
                <a:sym typeface="Roboto"/>
              </a:rPr>
              <a:t>Diabetes has emerged as a global health crisis, affecting hundreds of millions worldwide. Among its most devastating complications, Diabetic Retinopathy stands out as the leading cause of vision loss in diabetic patients. The alarming reality is that approximately 84% of diabetics remain unaware of their condition due to inadequate screening infrastructure. </a:t>
            </a:r>
            <a:r>
              <a:rPr lang="en-US" sz="2800" dirty="0">
                <a:solidFill>
                  <a:srgbClr val="000000"/>
                </a:solidFill>
                <a:latin typeface="Times New Roman" panose="02020603050405020304" pitchFamily="18" charset="0"/>
                <a:ea typeface="Roboto"/>
                <a:cs typeface="Times New Roman" panose="02020603050405020304" pitchFamily="18" charset="0"/>
                <a:sym typeface="Roboto"/>
              </a:rPr>
              <a:t>Early detection and timely intervention are absolutely crucial</a:t>
            </a:r>
            <a:r>
              <a:rPr lang="en-US" sz="2800" dirty="0">
                <a:solidFill>
                  <a:srgbClr val="D4D4D1"/>
                </a:solidFill>
                <a:latin typeface="Times New Roman" panose="02020603050405020304" pitchFamily="18" charset="0"/>
                <a:ea typeface="Roboto"/>
                <a:cs typeface="Times New Roman" panose="02020603050405020304" pitchFamily="18" charset="0"/>
                <a:sym typeface="Roboto"/>
              </a:rPr>
              <a:t> to preventing irreversible damage and preserving sight.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1" y="-9071"/>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92C32"/>
            </a:solidFill>
            <a:ln w="12700">
              <a:solidFill>
                <a:srgbClr val="000000"/>
              </a:solidFill>
            </a:ln>
          </p:spPr>
        </p:sp>
      </p:grpSp>
      <p:sp>
        <p:nvSpPr>
          <p:cNvPr id="6" name="TextBox 6"/>
          <p:cNvSpPr txBox="1"/>
          <p:nvPr/>
        </p:nvSpPr>
        <p:spPr>
          <a:xfrm>
            <a:off x="717202" y="534889"/>
            <a:ext cx="11835407" cy="668983"/>
          </a:xfrm>
          <a:prstGeom prst="rect">
            <a:avLst/>
          </a:prstGeom>
        </p:spPr>
        <p:txBody>
          <a:bodyPr lIns="0" tIns="0" rIns="0" bIns="0" rtlCol="0" anchor="t">
            <a:spAutoFit/>
          </a:bodyPr>
          <a:lstStyle/>
          <a:p>
            <a:pPr algn="l">
              <a:lnSpc>
                <a:spcPts val="5000"/>
              </a:lnSpc>
            </a:pPr>
            <a:r>
              <a:rPr lang="en-US" sz="4000" b="1">
                <a:solidFill>
                  <a:srgbClr val="F3F3F2"/>
                </a:solidFill>
                <a:latin typeface="IBM Plex Sans Medium"/>
                <a:ea typeface="IBM Plex Sans Medium"/>
                <a:cs typeface="IBM Plex Sans Medium"/>
                <a:sym typeface="IBM Plex Sans Medium"/>
              </a:rPr>
              <a:t>The Problem: Inadequate Screening and Diagnosis</a:t>
            </a:r>
          </a:p>
        </p:txBody>
      </p:sp>
      <p:grpSp>
        <p:nvGrpSpPr>
          <p:cNvPr id="7" name="Group 7"/>
          <p:cNvGrpSpPr>
            <a:grpSpLocks noChangeAspect="1"/>
          </p:cNvGrpSpPr>
          <p:nvPr/>
        </p:nvGrpSpPr>
        <p:grpSpPr>
          <a:xfrm>
            <a:off x="717202" y="1741735"/>
            <a:ext cx="8176766" cy="8176766"/>
            <a:chOff x="0" y="0"/>
            <a:chExt cx="10902355" cy="10902355"/>
          </a:xfrm>
        </p:grpSpPr>
        <p:sp>
          <p:nvSpPr>
            <p:cNvPr id="8" name="Freeform 8" descr="preencoded.png"/>
            <p:cNvSpPr/>
            <p:nvPr/>
          </p:nvSpPr>
          <p:spPr>
            <a:xfrm>
              <a:off x="0" y="0"/>
              <a:ext cx="10902315" cy="10902315"/>
            </a:xfrm>
            <a:custGeom>
              <a:avLst/>
              <a:gdLst/>
              <a:ahLst/>
              <a:cxnLst/>
              <a:rect l="l" t="t" r="r" b="b"/>
              <a:pathLst>
                <a:path w="10902315" h="10902315">
                  <a:moveTo>
                    <a:pt x="0" y="0"/>
                  </a:moveTo>
                  <a:lnTo>
                    <a:pt x="10902315" y="0"/>
                  </a:lnTo>
                  <a:lnTo>
                    <a:pt x="10902315" y="10902315"/>
                  </a:lnTo>
                  <a:lnTo>
                    <a:pt x="0" y="10902315"/>
                  </a:lnTo>
                  <a:lnTo>
                    <a:pt x="0" y="0"/>
                  </a:lnTo>
                  <a:close/>
                </a:path>
              </a:pathLst>
            </a:custGeom>
            <a:blipFill>
              <a:blip r:embed="rId3"/>
              <a:stretch>
                <a:fillRect/>
              </a:stretch>
            </a:blipFill>
          </p:spPr>
        </p:sp>
      </p:grpSp>
      <p:sp>
        <p:nvSpPr>
          <p:cNvPr id="9" name="Freeform 9" descr="preencoded.png"/>
          <p:cNvSpPr/>
          <p:nvPr/>
        </p:nvSpPr>
        <p:spPr>
          <a:xfrm>
            <a:off x="9480351" y="1747986"/>
            <a:ext cx="307330" cy="307330"/>
          </a:xfrm>
          <a:custGeom>
            <a:avLst/>
            <a:gdLst/>
            <a:ahLst/>
            <a:cxnLst/>
            <a:rect l="l" t="t" r="r" b="b"/>
            <a:pathLst>
              <a:path w="307330" h="307330">
                <a:moveTo>
                  <a:pt x="0" y="0"/>
                </a:moveTo>
                <a:lnTo>
                  <a:pt x="307330" y="0"/>
                </a:lnTo>
                <a:lnTo>
                  <a:pt x="307330" y="307330"/>
                </a:lnTo>
                <a:lnTo>
                  <a:pt x="0" y="307330"/>
                </a:lnTo>
                <a:lnTo>
                  <a:pt x="0" y="0"/>
                </a:lnTo>
                <a:close/>
              </a:path>
            </a:pathLst>
          </a:custGeom>
          <a:blipFill>
            <a:blip>
              <a:extLst>
                <a:ext uri="{96DAC541-7B7A-43D3-8B79-37D633B846F1}">
                  <asvg:svgBlip xmlns:asvg="http://schemas.microsoft.com/office/drawing/2016/SVG/main" r:embed="rId4"/>
                </a:ext>
              </a:extLst>
            </a:blip>
            <a:stretch>
              <a:fillRect l="-7575" r="-7575"/>
            </a:stretch>
          </a:blipFill>
        </p:spPr>
      </p:sp>
      <p:sp>
        <p:nvSpPr>
          <p:cNvPr id="10" name="TextBox 10"/>
          <p:cNvSpPr txBox="1"/>
          <p:nvPr/>
        </p:nvSpPr>
        <p:spPr>
          <a:xfrm>
            <a:off x="10069562" y="1732210"/>
            <a:ext cx="5018037" cy="324576"/>
          </a:xfrm>
          <a:prstGeom prst="rect">
            <a:avLst/>
          </a:prstGeom>
        </p:spPr>
        <p:txBody>
          <a:bodyPr wrap="square" lIns="0" tIns="0" rIns="0" bIns="0" rtlCol="0" anchor="t">
            <a:spAutoFit/>
          </a:bodyPr>
          <a:lstStyle/>
          <a:p>
            <a:pPr algn="l">
              <a:lnSpc>
                <a:spcPts val="2500"/>
              </a:lnSpc>
            </a:pPr>
            <a:r>
              <a:rPr lang="en-US" sz="2800" b="1" dirty="0">
                <a:solidFill>
                  <a:srgbClr val="D4D4D1"/>
                </a:solidFill>
                <a:latin typeface="Times New Roman" panose="02020603050405020304" pitchFamily="18" charset="0"/>
                <a:ea typeface="IBM Plex Sans Medium"/>
                <a:cs typeface="Times New Roman" panose="02020603050405020304" pitchFamily="18" charset="0"/>
                <a:sym typeface="IBM Plex Sans Medium"/>
              </a:rPr>
              <a:t>Complex Traditional Methods</a:t>
            </a:r>
          </a:p>
        </p:txBody>
      </p:sp>
      <p:sp>
        <p:nvSpPr>
          <p:cNvPr id="11" name="TextBox 11"/>
          <p:cNvSpPr txBox="1"/>
          <p:nvPr/>
        </p:nvSpPr>
        <p:spPr>
          <a:xfrm>
            <a:off x="10069563" y="2190601"/>
            <a:ext cx="7510760" cy="1000274"/>
          </a:xfrm>
          <a:prstGeom prst="rect">
            <a:avLst/>
          </a:prstGeom>
        </p:spPr>
        <p:txBody>
          <a:bodyPr lIns="0" tIns="0" rIns="0" bIns="0" rtlCol="0" anchor="t">
            <a:spAutoFit/>
          </a:bodyPr>
          <a:lstStyle/>
          <a:p>
            <a:pPr algn="l">
              <a:lnSpc>
                <a:spcPts val="2562"/>
              </a:lnSpc>
            </a:pPr>
            <a:r>
              <a:rPr lang="en-US" sz="2400" dirty="0">
                <a:solidFill>
                  <a:srgbClr val="D4D4D1"/>
                </a:solidFill>
                <a:latin typeface="Times New Roman" panose="02020603050405020304" pitchFamily="18" charset="0"/>
                <a:ea typeface="Roboto"/>
                <a:cs typeface="Times New Roman" panose="02020603050405020304" pitchFamily="18" charset="0"/>
                <a:sym typeface="Roboto"/>
              </a:rPr>
              <a:t>Conventional DR screening requires expensive equipment, specialized facilities, and time-intensive manual examination processes</a:t>
            </a:r>
          </a:p>
        </p:txBody>
      </p:sp>
      <p:sp>
        <p:nvSpPr>
          <p:cNvPr id="12" name="Freeform 12" descr="preencoded.png"/>
          <p:cNvSpPr/>
          <p:nvPr/>
        </p:nvSpPr>
        <p:spPr>
          <a:xfrm>
            <a:off x="9607457" y="3980744"/>
            <a:ext cx="307330" cy="307330"/>
          </a:xfrm>
          <a:custGeom>
            <a:avLst/>
            <a:gdLst/>
            <a:ahLst/>
            <a:cxnLst/>
            <a:rect l="l" t="t" r="r" b="b"/>
            <a:pathLst>
              <a:path w="307330" h="307330">
                <a:moveTo>
                  <a:pt x="0" y="0"/>
                </a:moveTo>
                <a:lnTo>
                  <a:pt x="307330" y="0"/>
                </a:lnTo>
                <a:lnTo>
                  <a:pt x="307330" y="307330"/>
                </a:lnTo>
                <a:lnTo>
                  <a:pt x="0" y="307330"/>
                </a:lnTo>
                <a:lnTo>
                  <a:pt x="0" y="0"/>
                </a:lnTo>
                <a:close/>
              </a:path>
            </a:pathLst>
          </a:custGeom>
          <a:blipFill>
            <a:blip>
              <a:extLst>
                <a:ext uri="{96DAC541-7B7A-43D3-8B79-37D633B846F1}">
                  <asvg:svgBlip xmlns:asvg="http://schemas.microsoft.com/office/drawing/2016/SVG/main" r:embed="rId4"/>
                </a:ext>
              </a:extLst>
            </a:blip>
            <a:stretch>
              <a:fillRect l="-7575" r="-7575"/>
            </a:stretch>
          </a:blipFill>
        </p:spPr>
      </p:sp>
      <p:sp>
        <p:nvSpPr>
          <p:cNvPr id="13" name="TextBox 13"/>
          <p:cNvSpPr txBox="1"/>
          <p:nvPr/>
        </p:nvSpPr>
        <p:spPr>
          <a:xfrm>
            <a:off x="10069562" y="3958420"/>
            <a:ext cx="4256038" cy="324576"/>
          </a:xfrm>
          <a:prstGeom prst="rect">
            <a:avLst/>
          </a:prstGeom>
        </p:spPr>
        <p:txBody>
          <a:bodyPr wrap="square" lIns="0" tIns="0" rIns="0" bIns="0" rtlCol="0" anchor="t">
            <a:spAutoFit/>
          </a:bodyPr>
          <a:lstStyle/>
          <a:p>
            <a:pPr algn="l">
              <a:lnSpc>
                <a:spcPts val="2500"/>
              </a:lnSpc>
            </a:pPr>
            <a:r>
              <a:rPr lang="en-US" sz="2800" b="1" dirty="0">
                <a:solidFill>
                  <a:srgbClr val="D4D4D1"/>
                </a:solidFill>
                <a:latin typeface="Times New Roman" panose="02020603050405020304" pitchFamily="18" charset="0"/>
                <a:ea typeface="IBM Plex Sans Medium"/>
                <a:cs typeface="Times New Roman" panose="02020603050405020304" pitchFamily="18" charset="0"/>
                <a:sym typeface="IBM Plex Sans Medium"/>
              </a:rPr>
              <a:t>Limited Specialist Access</a:t>
            </a:r>
          </a:p>
        </p:txBody>
      </p:sp>
      <p:sp>
        <p:nvSpPr>
          <p:cNvPr id="14" name="TextBox 14"/>
          <p:cNvSpPr txBox="1"/>
          <p:nvPr/>
        </p:nvSpPr>
        <p:spPr>
          <a:xfrm>
            <a:off x="10069563" y="4504731"/>
            <a:ext cx="7510760" cy="666849"/>
          </a:xfrm>
          <a:prstGeom prst="rect">
            <a:avLst/>
          </a:prstGeom>
        </p:spPr>
        <p:txBody>
          <a:bodyPr lIns="0" tIns="0" rIns="0" bIns="0" rtlCol="0" anchor="t">
            <a:spAutoFit/>
          </a:bodyPr>
          <a:lstStyle/>
          <a:p>
            <a:pPr algn="l">
              <a:lnSpc>
                <a:spcPts val="2562"/>
              </a:lnSpc>
            </a:pPr>
            <a:r>
              <a:rPr lang="en-US" sz="2400" dirty="0">
                <a:solidFill>
                  <a:srgbClr val="D4D4D1"/>
                </a:solidFill>
                <a:latin typeface="Times New Roman" panose="02020603050405020304" pitchFamily="18" charset="0"/>
                <a:ea typeface="Roboto"/>
                <a:cs typeface="Times New Roman" panose="02020603050405020304" pitchFamily="18" charset="0"/>
                <a:sym typeface="Roboto"/>
              </a:rPr>
              <a:t>Rural and underserved communities face critical shortages of trained ophthalmologists and screening infrastructure</a:t>
            </a:r>
          </a:p>
        </p:txBody>
      </p:sp>
      <p:sp>
        <p:nvSpPr>
          <p:cNvPr id="15" name="Freeform 15" descr="preencoded.png"/>
          <p:cNvSpPr/>
          <p:nvPr/>
        </p:nvSpPr>
        <p:spPr>
          <a:xfrm>
            <a:off x="9480351" y="6263804"/>
            <a:ext cx="307330" cy="307330"/>
          </a:xfrm>
          <a:custGeom>
            <a:avLst/>
            <a:gdLst/>
            <a:ahLst/>
            <a:cxnLst/>
            <a:rect l="l" t="t" r="r" b="b"/>
            <a:pathLst>
              <a:path w="307330" h="307330">
                <a:moveTo>
                  <a:pt x="0" y="0"/>
                </a:moveTo>
                <a:lnTo>
                  <a:pt x="307330" y="0"/>
                </a:lnTo>
                <a:lnTo>
                  <a:pt x="307330" y="307330"/>
                </a:lnTo>
                <a:lnTo>
                  <a:pt x="0" y="307330"/>
                </a:lnTo>
                <a:lnTo>
                  <a:pt x="0" y="0"/>
                </a:lnTo>
                <a:close/>
              </a:path>
            </a:pathLst>
          </a:custGeom>
          <a:blipFill>
            <a:blip>
              <a:extLst>
                <a:ext uri="{96DAC541-7B7A-43D3-8B79-37D633B846F1}">
                  <asvg:svgBlip xmlns:asvg="http://schemas.microsoft.com/office/drawing/2016/SVG/main" r:embed="rId4"/>
                </a:ext>
              </a:extLst>
            </a:blip>
            <a:stretch>
              <a:fillRect l="-7575" r="-7575"/>
            </a:stretch>
          </a:blipFill>
        </p:spPr>
      </p:sp>
      <p:sp>
        <p:nvSpPr>
          <p:cNvPr id="16" name="TextBox 16"/>
          <p:cNvSpPr txBox="1"/>
          <p:nvPr/>
        </p:nvSpPr>
        <p:spPr>
          <a:xfrm>
            <a:off x="10069562" y="6252642"/>
            <a:ext cx="4103638" cy="324576"/>
          </a:xfrm>
          <a:prstGeom prst="rect">
            <a:avLst/>
          </a:prstGeom>
        </p:spPr>
        <p:txBody>
          <a:bodyPr wrap="square" lIns="0" tIns="0" rIns="0" bIns="0" rtlCol="0" anchor="t">
            <a:spAutoFit/>
          </a:bodyPr>
          <a:lstStyle/>
          <a:p>
            <a:pPr algn="l">
              <a:lnSpc>
                <a:spcPts val="2500"/>
              </a:lnSpc>
            </a:pPr>
            <a:r>
              <a:rPr lang="en-US" sz="2800" b="1" dirty="0">
                <a:solidFill>
                  <a:srgbClr val="D4D4D1"/>
                </a:solidFill>
                <a:latin typeface="Times New Roman" panose="02020603050405020304" pitchFamily="18" charset="0"/>
                <a:ea typeface="IBM Plex Sans Medium"/>
                <a:cs typeface="Times New Roman" panose="02020603050405020304" pitchFamily="18" charset="0"/>
                <a:sym typeface="IBM Plex Sans Medium"/>
              </a:rPr>
              <a:t>Delayed Diagnosis Risk</a:t>
            </a:r>
          </a:p>
        </p:txBody>
      </p:sp>
      <p:sp>
        <p:nvSpPr>
          <p:cNvPr id="17" name="TextBox 17"/>
          <p:cNvSpPr txBox="1"/>
          <p:nvPr/>
        </p:nvSpPr>
        <p:spPr>
          <a:xfrm>
            <a:off x="10069563" y="6789058"/>
            <a:ext cx="7510760" cy="666849"/>
          </a:xfrm>
          <a:prstGeom prst="rect">
            <a:avLst/>
          </a:prstGeom>
        </p:spPr>
        <p:txBody>
          <a:bodyPr lIns="0" tIns="0" rIns="0" bIns="0" rtlCol="0" anchor="t">
            <a:spAutoFit/>
          </a:bodyPr>
          <a:lstStyle/>
          <a:p>
            <a:pPr algn="l">
              <a:lnSpc>
                <a:spcPts val="2562"/>
              </a:lnSpc>
            </a:pPr>
            <a:r>
              <a:rPr lang="en-US" sz="2400" dirty="0">
                <a:solidFill>
                  <a:srgbClr val="D4D4D1"/>
                </a:solidFill>
                <a:latin typeface="Times New Roman" panose="02020603050405020304" pitchFamily="18" charset="0"/>
                <a:ea typeface="Roboto"/>
                <a:cs typeface="Times New Roman" panose="02020603050405020304" pitchFamily="18" charset="0"/>
                <a:sym typeface="Roboto"/>
              </a:rPr>
              <a:t>Late detection leads to advanced DR stages, significantly increasing the risk of permanent vision loss and blindness</a:t>
            </a:r>
          </a:p>
        </p:txBody>
      </p:sp>
      <p:sp>
        <p:nvSpPr>
          <p:cNvPr id="18" name="TextBox 18"/>
          <p:cNvSpPr txBox="1"/>
          <p:nvPr/>
        </p:nvSpPr>
        <p:spPr>
          <a:xfrm>
            <a:off x="717202" y="10303371"/>
            <a:ext cx="16853595" cy="404069"/>
          </a:xfrm>
          <a:prstGeom prst="rect">
            <a:avLst/>
          </a:prstGeom>
        </p:spPr>
        <p:txBody>
          <a:bodyPr lIns="0" tIns="0" rIns="0" bIns="0" rtlCol="0" anchor="t">
            <a:spAutoFit/>
          </a:bodyPr>
          <a:lstStyle/>
          <a:p>
            <a:pPr algn="l">
              <a:lnSpc>
                <a:spcPts val="2562"/>
              </a:lnSpc>
            </a:pPr>
            <a:r>
              <a:rPr lang="en-US" sz="1562">
                <a:solidFill>
                  <a:srgbClr val="D4D4D1"/>
                </a:solidFill>
                <a:latin typeface="Roboto"/>
                <a:ea typeface="Roboto"/>
                <a:cs typeface="Roboto"/>
                <a:sym typeface="Roboto"/>
              </a:rPr>
              <a:t>The consequence is clear: </a:t>
            </a:r>
            <a:r>
              <a:rPr lang="en-US" sz="1562">
                <a:solidFill>
                  <a:srgbClr val="FFBC8F"/>
                </a:solidFill>
                <a:latin typeface="Roboto"/>
                <a:ea typeface="Roboto"/>
                <a:cs typeface="Roboto"/>
                <a:sym typeface="Roboto"/>
              </a:rPr>
              <a:t>preventable vision loss and dramatically reduced quality of life</a:t>
            </a:r>
            <a:r>
              <a:rPr lang="en-US" sz="1562">
                <a:solidFill>
                  <a:srgbClr val="D4D4D1"/>
                </a:solidFill>
                <a:latin typeface="Roboto"/>
                <a:ea typeface="Roboto"/>
                <a:cs typeface="Roboto"/>
                <a:sym typeface="Roboto"/>
              </a:rPr>
              <a:t> for millions of diabetic patients who could have been saved with timely screening.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2242A"/>
            </a:solidFill>
            <a:ln w="12700">
              <a:solidFill>
                <a:srgbClr val="000000"/>
              </a:solidFill>
            </a:ln>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92C32"/>
            </a:solidFill>
            <a:ln w="12700">
              <a:solidFill>
                <a:srgbClr val="000000"/>
              </a:solidFill>
            </a:ln>
          </p:spPr>
        </p:sp>
      </p:grpSp>
      <p:grpSp>
        <p:nvGrpSpPr>
          <p:cNvPr id="6" name="Group 6"/>
          <p:cNvGrpSpPr>
            <a:grpSpLocks noChangeAspect="1"/>
          </p:cNvGrpSpPr>
          <p:nvPr/>
        </p:nvGrpSpPr>
        <p:grpSpPr>
          <a:xfrm>
            <a:off x="0" y="0"/>
            <a:ext cx="6858000" cy="10287000"/>
            <a:chOff x="0" y="0"/>
            <a:chExt cx="9144000" cy="13716000"/>
          </a:xfrm>
        </p:grpSpPr>
        <p:sp>
          <p:nvSpPr>
            <p:cNvPr id="7" name="Freeform 7"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3"/>
              <a:stretch>
                <a:fillRect/>
              </a:stretch>
            </a:blipFill>
          </p:spPr>
        </p:sp>
      </p:grpSp>
      <p:sp>
        <p:nvSpPr>
          <p:cNvPr id="8" name="TextBox 8"/>
          <p:cNvSpPr txBox="1"/>
          <p:nvPr/>
        </p:nvSpPr>
        <p:spPr>
          <a:xfrm>
            <a:off x="7457182" y="1129456"/>
            <a:ext cx="9344025" cy="554088"/>
          </a:xfrm>
          <a:prstGeom prst="rect">
            <a:avLst/>
          </a:prstGeom>
        </p:spPr>
        <p:txBody>
          <a:bodyPr lIns="0" tIns="0" rIns="0" bIns="0" rtlCol="0" anchor="t">
            <a:spAutoFit/>
          </a:bodyPr>
          <a:lstStyle/>
          <a:p>
            <a:pPr algn="l">
              <a:lnSpc>
                <a:spcPts val="4187"/>
              </a:lnSpc>
            </a:pPr>
            <a:r>
              <a:rPr lang="en-US" sz="3312" b="1">
                <a:solidFill>
                  <a:srgbClr val="F3F3F2"/>
                </a:solidFill>
                <a:latin typeface="IBM Plex Sans Medium"/>
                <a:ea typeface="IBM Plex Sans Medium"/>
                <a:cs typeface="IBM Plex Sans Medium"/>
                <a:sym typeface="IBM Plex Sans Medium"/>
              </a:rPr>
              <a:t>Drishti: AI-Powered Solution for Early Detection</a:t>
            </a:r>
          </a:p>
        </p:txBody>
      </p:sp>
      <p:grpSp>
        <p:nvGrpSpPr>
          <p:cNvPr id="9" name="Group 9"/>
          <p:cNvGrpSpPr/>
          <p:nvPr/>
        </p:nvGrpSpPr>
        <p:grpSpPr>
          <a:xfrm>
            <a:off x="7457182" y="1924274"/>
            <a:ext cx="10231636" cy="1671191"/>
            <a:chOff x="0" y="0"/>
            <a:chExt cx="13642182" cy="2228255"/>
          </a:xfrm>
        </p:grpSpPr>
        <p:sp>
          <p:nvSpPr>
            <p:cNvPr id="10" name="Freeform 10"/>
            <p:cNvSpPr/>
            <p:nvPr/>
          </p:nvSpPr>
          <p:spPr>
            <a:xfrm>
              <a:off x="0" y="0"/>
              <a:ext cx="13642212" cy="2228342"/>
            </a:xfrm>
            <a:custGeom>
              <a:avLst/>
              <a:gdLst/>
              <a:ahLst/>
              <a:cxnLst/>
              <a:rect l="l" t="t" r="r" b="b"/>
              <a:pathLst>
                <a:path w="13642212" h="2228342">
                  <a:moveTo>
                    <a:pt x="0" y="34290"/>
                  </a:moveTo>
                  <a:cubicBezTo>
                    <a:pt x="0" y="15367"/>
                    <a:pt x="15367" y="0"/>
                    <a:pt x="34290" y="0"/>
                  </a:cubicBezTo>
                  <a:lnTo>
                    <a:pt x="13607923" y="0"/>
                  </a:lnTo>
                  <a:cubicBezTo>
                    <a:pt x="13626846" y="0"/>
                    <a:pt x="13642212" y="15367"/>
                    <a:pt x="13642212" y="34290"/>
                  </a:cubicBezTo>
                  <a:lnTo>
                    <a:pt x="13642212" y="2194052"/>
                  </a:lnTo>
                  <a:cubicBezTo>
                    <a:pt x="13642212" y="2212975"/>
                    <a:pt x="13626846" y="2228342"/>
                    <a:pt x="13607923" y="2228342"/>
                  </a:cubicBezTo>
                  <a:lnTo>
                    <a:pt x="34290" y="2228342"/>
                  </a:lnTo>
                  <a:cubicBezTo>
                    <a:pt x="15367" y="2228342"/>
                    <a:pt x="0" y="2212975"/>
                    <a:pt x="0" y="2194052"/>
                  </a:cubicBezTo>
                  <a:close/>
                </a:path>
              </a:pathLst>
            </a:custGeom>
            <a:solidFill>
              <a:srgbClr val="484B51"/>
            </a:solidFill>
            <a:ln w="12700">
              <a:solidFill>
                <a:srgbClr val="000000"/>
              </a:solidFill>
            </a:ln>
          </p:spPr>
        </p:sp>
      </p:grpSp>
      <p:grpSp>
        <p:nvGrpSpPr>
          <p:cNvPr id="11" name="Group 11"/>
          <p:cNvGrpSpPr/>
          <p:nvPr/>
        </p:nvGrpSpPr>
        <p:grpSpPr>
          <a:xfrm>
            <a:off x="7628335" y="2111425"/>
            <a:ext cx="513606" cy="513606"/>
            <a:chOff x="0" y="0"/>
            <a:chExt cx="684808" cy="684808"/>
          </a:xfrm>
        </p:grpSpPr>
        <p:sp>
          <p:nvSpPr>
            <p:cNvPr id="12" name="Freeform 12"/>
            <p:cNvSpPr/>
            <p:nvPr/>
          </p:nvSpPr>
          <p:spPr>
            <a:xfrm>
              <a:off x="0" y="0"/>
              <a:ext cx="684784" cy="684784"/>
            </a:xfrm>
            <a:custGeom>
              <a:avLst/>
              <a:gdLst/>
              <a:ahLst/>
              <a:cxnLst/>
              <a:rect l="l" t="t" r="r" b="b"/>
              <a:pathLst>
                <a:path w="684784" h="684784">
                  <a:moveTo>
                    <a:pt x="0" y="342392"/>
                  </a:moveTo>
                  <a:cubicBezTo>
                    <a:pt x="0" y="153289"/>
                    <a:pt x="153289" y="0"/>
                    <a:pt x="342392" y="0"/>
                  </a:cubicBezTo>
                  <a:cubicBezTo>
                    <a:pt x="531495" y="0"/>
                    <a:pt x="684784" y="153289"/>
                    <a:pt x="684784" y="342392"/>
                  </a:cubicBezTo>
                  <a:cubicBezTo>
                    <a:pt x="684784" y="531495"/>
                    <a:pt x="531495" y="684784"/>
                    <a:pt x="342392" y="684784"/>
                  </a:cubicBezTo>
                  <a:cubicBezTo>
                    <a:pt x="153289" y="684784"/>
                    <a:pt x="0" y="531495"/>
                    <a:pt x="0" y="342392"/>
                  </a:cubicBezTo>
                  <a:close/>
                </a:path>
              </a:pathLst>
            </a:custGeom>
            <a:solidFill>
              <a:srgbClr val="FFBC8F"/>
            </a:solidFill>
            <a:ln w="12700">
              <a:solidFill>
                <a:srgbClr val="000000"/>
              </a:solidFill>
            </a:ln>
          </p:spPr>
        </p:sp>
      </p:grpSp>
      <p:sp>
        <p:nvSpPr>
          <p:cNvPr id="13" name="Freeform 13" descr="preencoded.png"/>
          <p:cNvSpPr/>
          <p:nvPr/>
        </p:nvSpPr>
        <p:spPr>
          <a:xfrm>
            <a:off x="7769572" y="2252662"/>
            <a:ext cx="231130" cy="231130"/>
          </a:xfrm>
          <a:custGeom>
            <a:avLst/>
            <a:gdLst/>
            <a:ahLst/>
            <a:cxnLst/>
            <a:rect l="l" t="t" r="r" b="b"/>
            <a:pathLst>
              <a:path w="231130" h="231130">
                <a:moveTo>
                  <a:pt x="0" y="0"/>
                </a:moveTo>
                <a:lnTo>
                  <a:pt x="231130" y="0"/>
                </a:lnTo>
                <a:lnTo>
                  <a:pt x="231130" y="231130"/>
                </a:lnTo>
                <a:lnTo>
                  <a:pt x="0" y="23113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4" name="TextBox 14"/>
          <p:cNvSpPr txBox="1"/>
          <p:nvPr/>
        </p:nvSpPr>
        <p:spPr>
          <a:xfrm>
            <a:off x="8285931" y="2336373"/>
            <a:ext cx="4563666" cy="286104"/>
          </a:xfrm>
          <a:prstGeom prst="rect">
            <a:avLst/>
          </a:prstGeom>
        </p:spPr>
        <p:txBody>
          <a:bodyPr wrap="square" lIns="0" tIns="0" rIns="0" bIns="0" rtlCol="0" anchor="t">
            <a:spAutoFit/>
          </a:bodyPr>
          <a:lstStyle/>
          <a:p>
            <a:pPr algn="l">
              <a:lnSpc>
                <a:spcPts val="2062"/>
              </a:lnSpc>
            </a:pPr>
            <a:r>
              <a:rPr lang="en-US" sz="2800" b="1" dirty="0">
                <a:solidFill>
                  <a:srgbClr val="D4D4D1"/>
                </a:solidFill>
                <a:latin typeface="Times New Roman" panose="02020603050405020304" pitchFamily="18" charset="0"/>
                <a:ea typeface="IBM Plex Sans Medium"/>
                <a:cs typeface="Times New Roman" panose="02020603050405020304" pitchFamily="18" charset="0"/>
                <a:sym typeface="IBM Plex Sans Medium"/>
              </a:rPr>
              <a:t>Advanced AI Analysis</a:t>
            </a:r>
          </a:p>
        </p:txBody>
      </p:sp>
      <p:sp>
        <p:nvSpPr>
          <p:cNvPr id="15" name="TextBox 15"/>
          <p:cNvSpPr txBox="1"/>
          <p:nvPr/>
        </p:nvSpPr>
        <p:spPr>
          <a:xfrm>
            <a:off x="7628335" y="2844778"/>
            <a:ext cx="9889331" cy="543418"/>
          </a:xfrm>
          <a:prstGeom prst="rect">
            <a:avLst/>
          </a:prstGeom>
        </p:spPr>
        <p:txBody>
          <a:bodyPr lIns="0" tIns="0" rIns="0" bIns="0" rtlCol="0" anchor="t">
            <a:spAutoFit/>
          </a:bodyPr>
          <a:lstStyle/>
          <a:p>
            <a:pPr algn="l">
              <a:lnSpc>
                <a:spcPts val="2125"/>
              </a:lnSpc>
            </a:pPr>
            <a:r>
              <a:rPr lang="en-US" sz="2400" dirty="0">
                <a:solidFill>
                  <a:srgbClr val="D4D4D1"/>
                </a:solidFill>
                <a:latin typeface="Times New Roman" panose="02020603050405020304" pitchFamily="18" charset="0"/>
                <a:ea typeface="Roboto"/>
                <a:cs typeface="Times New Roman" panose="02020603050405020304" pitchFamily="18" charset="0"/>
                <a:sym typeface="Roboto"/>
              </a:rPr>
              <a:t>Utilizes cutting-edge deep learning models to analyze retinal images with exceptional precision and speed</a:t>
            </a:r>
          </a:p>
        </p:txBody>
      </p:sp>
      <p:grpSp>
        <p:nvGrpSpPr>
          <p:cNvPr id="16" name="Group 16"/>
          <p:cNvGrpSpPr/>
          <p:nvPr/>
        </p:nvGrpSpPr>
        <p:grpSpPr>
          <a:xfrm>
            <a:off x="7457182" y="3782616"/>
            <a:ext cx="10231636" cy="1671191"/>
            <a:chOff x="0" y="0"/>
            <a:chExt cx="13642182" cy="2228255"/>
          </a:xfrm>
        </p:grpSpPr>
        <p:sp>
          <p:nvSpPr>
            <p:cNvPr id="17" name="Freeform 17"/>
            <p:cNvSpPr/>
            <p:nvPr/>
          </p:nvSpPr>
          <p:spPr>
            <a:xfrm>
              <a:off x="0" y="0"/>
              <a:ext cx="13642212" cy="2228342"/>
            </a:xfrm>
            <a:custGeom>
              <a:avLst/>
              <a:gdLst/>
              <a:ahLst/>
              <a:cxnLst/>
              <a:rect l="l" t="t" r="r" b="b"/>
              <a:pathLst>
                <a:path w="13642212" h="2228342">
                  <a:moveTo>
                    <a:pt x="0" y="34290"/>
                  </a:moveTo>
                  <a:cubicBezTo>
                    <a:pt x="0" y="15367"/>
                    <a:pt x="15367" y="0"/>
                    <a:pt x="34290" y="0"/>
                  </a:cubicBezTo>
                  <a:lnTo>
                    <a:pt x="13607923" y="0"/>
                  </a:lnTo>
                  <a:cubicBezTo>
                    <a:pt x="13626846" y="0"/>
                    <a:pt x="13642212" y="15367"/>
                    <a:pt x="13642212" y="34290"/>
                  </a:cubicBezTo>
                  <a:lnTo>
                    <a:pt x="13642212" y="2194052"/>
                  </a:lnTo>
                  <a:cubicBezTo>
                    <a:pt x="13642212" y="2212975"/>
                    <a:pt x="13626846" y="2228342"/>
                    <a:pt x="13607923" y="2228342"/>
                  </a:cubicBezTo>
                  <a:lnTo>
                    <a:pt x="34290" y="2228342"/>
                  </a:lnTo>
                  <a:cubicBezTo>
                    <a:pt x="15367" y="2228342"/>
                    <a:pt x="0" y="2212975"/>
                    <a:pt x="0" y="2194052"/>
                  </a:cubicBezTo>
                  <a:close/>
                </a:path>
              </a:pathLst>
            </a:custGeom>
            <a:solidFill>
              <a:srgbClr val="484B51"/>
            </a:solidFill>
            <a:ln w="12700">
              <a:solidFill>
                <a:srgbClr val="000000"/>
              </a:solidFill>
            </a:ln>
          </p:spPr>
        </p:sp>
      </p:grpSp>
      <p:grpSp>
        <p:nvGrpSpPr>
          <p:cNvPr id="18" name="Group 18"/>
          <p:cNvGrpSpPr/>
          <p:nvPr/>
        </p:nvGrpSpPr>
        <p:grpSpPr>
          <a:xfrm>
            <a:off x="7628335" y="3953767"/>
            <a:ext cx="513606" cy="513606"/>
            <a:chOff x="0" y="0"/>
            <a:chExt cx="684808" cy="684808"/>
          </a:xfrm>
        </p:grpSpPr>
        <p:sp>
          <p:nvSpPr>
            <p:cNvPr id="19" name="Freeform 19"/>
            <p:cNvSpPr/>
            <p:nvPr/>
          </p:nvSpPr>
          <p:spPr>
            <a:xfrm>
              <a:off x="0" y="0"/>
              <a:ext cx="684784" cy="684784"/>
            </a:xfrm>
            <a:custGeom>
              <a:avLst/>
              <a:gdLst/>
              <a:ahLst/>
              <a:cxnLst/>
              <a:rect l="l" t="t" r="r" b="b"/>
              <a:pathLst>
                <a:path w="684784" h="684784">
                  <a:moveTo>
                    <a:pt x="0" y="342392"/>
                  </a:moveTo>
                  <a:cubicBezTo>
                    <a:pt x="0" y="153289"/>
                    <a:pt x="153289" y="0"/>
                    <a:pt x="342392" y="0"/>
                  </a:cubicBezTo>
                  <a:cubicBezTo>
                    <a:pt x="531495" y="0"/>
                    <a:pt x="684784" y="153289"/>
                    <a:pt x="684784" y="342392"/>
                  </a:cubicBezTo>
                  <a:cubicBezTo>
                    <a:pt x="684784" y="531495"/>
                    <a:pt x="531495" y="684784"/>
                    <a:pt x="342392" y="684784"/>
                  </a:cubicBezTo>
                  <a:cubicBezTo>
                    <a:pt x="153289" y="684784"/>
                    <a:pt x="0" y="531495"/>
                    <a:pt x="0" y="342392"/>
                  </a:cubicBezTo>
                  <a:close/>
                </a:path>
              </a:pathLst>
            </a:custGeom>
            <a:solidFill>
              <a:srgbClr val="FFBC8F"/>
            </a:solidFill>
            <a:ln w="12700">
              <a:solidFill>
                <a:srgbClr val="000000"/>
              </a:solidFill>
            </a:ln>
          </p:spPr>
        </p:sp>
      </p:grpSp>
      <p:sp>
        <p:nvSpPr>
          <p:cNvPr id="20" name="Freeform 20" descr="preencoded.png"/>
          <p:cNvSpPr/>
          <p:nvPr/>
        </p:nvSpPr>
        <p:spPr>
          <a:xfrm>
            <a:off x="7769572" y="4095006"/>
            <a:ext cx="231130" cy="231130"/>
          </a:xfrm>
          <a:custGeom>
            <a:avLst/>
            <a:gdLst/>
            <a:ahLst/>
            <a:cxnLst/>
            <a:rect l="l" t="t" r="r" b="b"/>
            <a:pathLst>
              <a:path w="231130" h="231130">
                <a:moveTo>
                  <a:pt x="0" y="0"/>
                </a:moveTo>
                <a:lnTo>
                  <a:pt x="231130" y="0"/>
                </a:lnTo>
                <a:lnTo>
                  <a:pt x="231130" y="231130"/>
                </a:lnTo>
                <a:lnTo>
                  <a:pt x="0" y="23113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21" name="TextBox 21"/>
          <p:cNvSpPr txBox="1"/>
          <p:nvPr/>
        </p:nvSpPr>
        <p:spPr>
          <a:xfrm>
            <a:off x="8342171" y="4144035"/>
            <a:ext cx="4030265" cy="286104"/>
          </a:xfrm>
          <a:prstGeom prst="rect">
            <a:avLst/>
          </a:prstGeom>
        </p:spPr>
        <p:txBody>
          <a:bodyPr wrap="square" lIns="0" tIns="0" rIns="0" bIns="0" rtlCol="0" anchor="t">
            <a:spAutoFit/>
          </a:bodyPr>
          <a:lstStyle/>
          <a:p>
            <a:pPr algn="l">
              <a:lnSpc>
                <a:spcPts val="2062"/>
              </a:lnSpc>
            </a:pPr>
            <a:r>
              <a:rPr lang="en-US" sz="2800" b="1" dirty="0">
                <a:solidFill>
                  <a:srgbClr val="D4D4D1"/>
                </a:solidFill>
                <a:latin typeface="Times New Roman" panose="02020603050405020304" pitchFamily="18" charset="0"/>
                <a:ea typeface="IBM Plex Sans Medium"/>
                <a:cs typeface="Times New Roman" panose="02020603050405020304" pitchFamily="18" charset="0"/>
                <a:sym typeface="IBM Plex Sans Medium"/>
              </a:rPr>
              <a:t>Rapid Detection</a:t>
            </a:r>
          </a:p>
        </p:txBody>
      </p:sp>
      <p:sp>
        <p:nvSpPr>
          <p:cNvPr id="22" name="TextBox 22"/>
          <p:cNvSpPr txBox="1"/>
          <p:nvPr/>
        </p:nvSpPr>
        <p:spPr>
          <a:xfrm>
            <a:off x="7649117" y="4730246"/>
            <a:ext cx="9889331" cy="548227"/>
          </a:xfrm>
          <a:prstGeom prst="rect">
            <a:avLst/>
          </a:prstGeom>
        </p:spPr>
        <p:txBody>
          <a:bodyPr lIns="0" tIns="0" rIns="0" bIns="0" rtlCol="0" anchor="t">
            <a:spAutoFit/>
          </a:bodyPr>
          <a:lstStyle/>
          <a:p>
            <a:pPr algn="l">
              <a:lnSpc>
                <a:spcPts val="2125"/>
              </a:lnSpc>
            </a:pPr>
            <a:r>
              <a:rPr lang="en-US" sz="2400" dirty="0">
                <a:solidFill>
                  <a:srgbClr val="D4D4D1"/>
                </a:solidFill>
                <a:latin typeface="Times New Roman" panose="02020603050405020304" pitchFamily="18" charset="0"/>
                <a:ea typeface="Roboto"/>
                <a:cs typeface="Times New Roman" panose="02020603050405020304" pitchFamily="18" charset="0"/>
                <a:sym typeface="Roboto"/>
              </a:rPr>
              <a:t>Delivers accurate DR screening results in minutes, providing timely insights for ophthalmologists to act upon</a:t>
            </a:r>
          </a:p>
        </p:txBody>
      </p:sp>
      <p:grpSp>
        <p:nvGrpSpPr>
          <p:cNvPr id="23" name="Group 23"/>
          <p:cNvGrpSpPr/>
          <p:nvPr/>
        </p:nvGrpSpPr>
        <p:grpSpPr>
          <a:xfrm>
            <a:off x="7457182" y="5589644"/>
            <a:ext cx="10231636" cy="1671191"/>
            <a:chOff x="0" y="0"/>
            <a:chExt cx="13642182" cy="2228255"/>
          </a:xfrm>
        </p:grpSpPr>
        <p:sp>
          <p:nvSpPr>
            <p:cNvPr id="24" name="Freeform 24"/>
            <p:cNvSpPr/>
            <p:nvPr/>
          </p:nvSpPr>
          <p:spPr>
            <a:xfrm>
              <a:off x="0" y="0"/>
              <a:ext cx="13642212" cy="2228342"/>
            </a:xfrm>
            <a:custGeom>
              <a:avLst/>
              <a:gdLst/>
              <a:ahLst/>
              <a:cxnLst/>
              <a:rect l="l" t="t" r="r" b="b"/>
              <a:pathLst>
                <a:path w="13642212" h="2228342">
                  <a:moveTo>
                    <a:pt x="0" y="34290"/>
                  </a:moveTo>
                  <a:cubicBezTo>
                    <a:pt x="0" y="15367"/>
                    <a:pt x="15367" y="0"/>
                    <a:pt x="34290" y="0"/>
                  </a:cubicBezTo>
                  <a:lnTo>
                    <a:pt x="13607923" y="0"/>
                  </a:lnTo>
                  <a:cubicBezTo>
                    <a:pt x="13626846" y="0"/>
                    <a:pt x="13642212" y="15367"/>
                    <a:pt x="13642212" y="34290"/>
                  </a:cubicBezTo>
                  <a:lnTo>
                    <a:pt x="13642212" y="2194052"/>
                  </a:lnTo>
                  <a:cubicBezTo>
                    <a:pt x="13642212" y="2212975"/>
                    <a:pt x="13626846" y="2228342"/>
                    <a:pt x="13607923" y="2228342"/>
                  </a:cubicBezTo>
                  <a:lnTo>
                    <a:pt x="34290" y="2228342"/>
                  </a:lnTo>
                  <a:cubicBezTo>
                    <a:pt x="15367" y="2228342"/>
                    <a:pt x="0" y="2212975"/>
                    <a:pt x="0" y="2194052"/>
                  </a:cubicBezTo>
                  <a:close/>
                </a:path>
              </a:pathLst>
            </a:custGeom>
            <a:solidFill>
              <a:srgbClr val="484B51"/>
            </a:solidFill>
            <a:ln w="12700">
              <a:solidFill>
                <a:srgbClr val="000000"/>
              </a:solidFill>
            </a:ln>
          </p:spPr>
        </p:sp>
      </p:grpSp>
      <p:grpSp>
        <p:nvGrpSpPr>
          <p:cNvPr id="25" name="Group 25"/>
          <p:cNvGrpSpPr/>
          <p:nvPr/>
        </p:nvGrpSpPr>
        <p:grpSpPr>
          <a:xfrm>
            <a:off x="7628335" y="5796111"/>
            <a:ext cx="513606" cy="513606"/>
            <a:chOff x="0" y="0"/>
            <a:chExt cx="684808" cy="684808"/>
          </a:xfrm>
        </p:grpSpPr>
        <p:sp>
          <p:nvSpPr>
            <p:cNvPr id="26" name="Freeform 26"/>
            <p:cNvSpPr/>
            <p:nvPr/>
          </p:nvSpPr>
          <p:spPr>
            <a:xfrm>
              <a:off x="0" y="0"/>
              <a:ext cx="684784" cy="684784"/>
            </a:xfrm>
            <a:custGeom>
              <a:avLst/>
              <a:gdLst/>
              <a:ahLst/>
              <a:cxnLst/>
              <a:rect l="l" t="t" r="r" b="b"/>
              <a:pathLst>
                <a:path w="684784" h="684784">
                  <a:moveTo>
                    <a:pt x="0" y="342392"/>
                  </a:moveTo>
                  <a:cubicBezTo>
                    <a:pt x="0" y="153289"/>
                    <a:pt x="153289" y="0"/>
                    <a:pt x="342392" y="0"/>
                  </a:cubicBezTo>
                  <a:cubicBezTo>
                    <a:pt x="531495" y="0"/>
                    <a:pt x="684784" y="153289"/>
                    <a:pt x="684784" y="342392"/>
                  </a:cubicBezTo>
                  <a:cubicBezTo>
                    <a:pt x="684784" y="531495"/>
                    <a:pt x="531495" y="684784"/>
                    <a:pt x="342392" y="684784"/>
                  </a:cubicBezTo>
                  <a:cubicBezTo>
                    <a:pt x="153289" y="684784"/>
                    <a:pt x="0" y="531495"/>
                    <a:pt x="0" y="342392"/>
                  </a:cubicBezTo>
                  <a:close/>
                </a:path>
              </a:pathLst>
            </a:custGeom>
            <a:solidFill>
              <a:srgbClr val="FFBC8F"/>
            </a:solidFill>
            <a:ln w="12700">
              <a:solidFill>
                <a:srgbClr val="000000"/>
              </a:solidFill>
            </a:ln>
          </p:spPr>
        </p:sp>
      </p:grpSp>
      <p:sp>
        <p:nvSpPr>
          <p:cNvPr id="27" name="Freeform 27" descr="preencoded.png"/>
          <p:cNvSpPr/>
          <p:nvPr/>
        </p:nvSpPr>
        <p:spPr>
          <a:xfrm>
            <a:off x="7769572" y="5937349"/>
            <a:ext cx="231130" cy="231130"/>
          </a:xfrm>
          <a:custGeom>
            <a:avLst/>
            <a:gdLst/>
            <a:ahLst/>
            <a:cxnLst/>
            <a:rect l="l" t="t" r="r" b="b"/>
            <a:pathLst>
              <a:path w="231130" h="231130">
                <a:moveTo>
                  <a:pt x="0" y="0"/>
                </a:moveTo>
                <a:lnTo>
                  <a:pt x="231130" y="0"/>
                </a:lnTo>
                <a:lnTo>
                  <a:pt x="231130" y="231130"/>
                </a:lnTo>
                <a:lnTo>
                  <a:pt x="0" y="231130"/>
                </a:lnTo>
                <a:lnTo>
                  <a:pt x="0" y="0"/>
                </a:lnTo>
                <a:close/>
              </a:path>
            </a:pathLst>
          </a:custGeom>
          <a:blipFill>
            <a:blip>
              <a:extLst>
                <a:ext uri="{96DAC541-7B7A-43D3-8B79-37D633B846F1}">
                  <asvg:svgBlip xmlns:asvg="http://schemas.microsoft.com/office/drawing/2016/SVG/main" r:embed="rId6"/>
                </a:ext>
              </a:extLst>
            </a:blip>
            <a:stretch>
              <a:fillRect l="-12000" r="-11999"/>
            </a:stretch>
          </a:blipFill>
        </p:spPr>
      </p:sp>
      <p:sp>
        <p:nvSpPr>
          <p:cNvPr id="28" name="TextBox 28"/>
          <p:cNvSpPr txBox="1"/>
          <p:nvPr/>
        </p:nvSpPr>
        <p:spPr>
          <a:xfrm>
            <a:off x="8283160" y="6003307"/>
            <a:ext cx="3756440" cy="286104"/>
          </a:xfrm>
          <a:prstGeom prst="rect">
            <a:avLst/>
          </a:prstGeom>
        </p:spPr>
        <p:txBody>
          <a:bodyPr wrap="square" lIns="0" tIns="0" rIns="0" bIns="0" rtlCol="0" anchor="t">
            <a:spAutoFit/>
          </a:bodyPr>
          <a:lstStyle/>
          <a:p>
            <a:pPr algn="l">
              <a:lnSpc>
                <a:spcPts val="2062"/>
              </a:lnSpc>
            </a:pPr>
            <a:r>
              <a:rPr lang="en-US" sz="2800" b="1" dirty="0">
                <a:solidFill>
                  <a:srgbClr val="D4D4D1"/>
                </a:solidFill>
                <a:latin typeface="Times New Roman" panose="02020603050405020304" pitchFamily="18" charset="0"/>
                <a:ea typeface="IBM Plex Sans Medium"/>
                <a:cs typeface="Times New Roman" panose="02020603050405020304" pitchFamily="18" charset="0"/>
                <a:sym typeface="IBM Plex Sans Medium"/>
              </a:rPr>
              <a:t>Cloud-Based Platform</a:t>
            </a:r>
          </a:p>
        </p:txBody>
      </p:sp>
      <p:sp>
        <p:nvSpPr>
          <p:cNvPr id="29" name="TextBox 29"/>
          <p:cNvSpPr txBox="1"/>
          <p:nvPr/>
        </p:nvSpPr>
        <p:spPr>
          <a:xfrm>
            <a:off x="7628335" y="6516383"/>
            <a:ext cx="9889331" cy="543418"/>
          </a:xfrm>
          <a:prstGeom prst="rect">
            <a:avLst/>
          </a:prstGeom>
        </p:spPr>
        <p:txBody>
          <a:bodyPr lIns="0" tIns="0" rIns="0" bIns="0" rtlCol="0" anchor="t">
            <a:spAutoFit/>
          </a:bodyPr>
          <a:lstStyle/>
          <a:p>
            <a:pPr algn="l">
              <a:lnSpc>
                <a:spcPts val="2125"/>
              </a:lnSpc>
            </a:pPr>
            <a:r>
              <a:rPr lang="en-US" sz="2400" dirty="0">
                <a:solidFill>
                  <a:srgbClr val="D4D4D1"/>
                </a:solidFill>
                <a:latin typeface="Times New Roman" panose="02020603050405020304" pitchFamily="18" charset="0"/>
                <a:ea typeface="Roboto"/>
                <a:cs typeface="Times New Roman" panose="02020603050405020304" pitchFamily="18" charset="0"/>
                <a:sym typeface="Roboto"/>
              </a:rPr>
              <a:t>Accessible anywhere with internet connectivity, breaking down geographical barriers to quality care</a:t>
            </a:r>
          </a:p>
        </p:txBody>
      </p:sp>
      <p:grpSp>
        <p:nvGrpSpPr>
          <p:cNvPr id="30" name="Group 30"/>
          <p:cNvGrpSpPr/>
          <p:nvPr/>
        </p:nvGrpSpPr>
        <p:grpSpPr>
          <a:xfrm>
            <a:off x="7457182" y="7467302"/>
            <a:ext cx="10231636" cy="1671191"/>
            <a:chOff x="0" y="0"/>
            <a:chExt cx="13642182" cy="2228255"/>
          </a:xfrm>
        </p:grpSpPr>
        <p:sp>
          <p:nvSpPr>
            <p:cNvPr id="31" name="Freeform 31"/>
            <p:cNvSpPr/>
            <p:nvPr/>
          </p:nvSpPr>
          <p:spPr>
            <a:xfrm>
              <a:off x="0" y="0"/>
              <a:ext cx="13642212" cy="2228342"/>
            </a:xfrm>
            <a:custGeom>
              <a:avLst/>
              <a:gdLst/>
              <a:ahLst/>
              <a:cxnLst/>
              <a:rect l="l" t="t" r="r" b="b"/>
              <a:pathLst>
                <a:path w="13642212" h="2228342">
                  <a:moveTo>
                    <a:pt x="0" y="34290"/>
                  </a:moveTo>
                  <a:cubicBezTo>
                    <a:pt x="0" y="15367"/>
                    <a:pt x="15367" y="0"/>
                    <a:pt x="34290" y="0"/>
                  </a:cubicBezTo>
                  <a:lnTo>
                    <a:pt x="13607923" y="0"/>
                  </a:lnTo>
                  <a:cubicBezTo>
                    <a:pt x="13626846" y="0"/>
                    <a:pt x="13642212" y="15367"/>
                    <a:pt x="13642212" y="34290"/>
                  </a:cubicBezTo>
                  <a:lnTo>
                    <a:pt x="13642212" y="2194052"/>
                  </a:lnTo>
                  <a:cubicBezTo>
                    <a:pt x="13642212" y="2212975"/>
                    <a:pt x="13626846" y="2228342"/>
                    <a:pt x="13607923" y="2228342"/>
                  </a:cubicBezTo>
                  <a:lnTo>
                    <a:pt x="34290" y="2228342"/>
                  </a:lnTo>
                  <a:cubicBezTo>
                    <a:pt x="15367" y="2228342"/>
                    <a:pt x="0" y="2212975"/>
                    <a:pt x="0" y="2194052"/>
                  </a:cubicBezTo>
                  <a:close/>
                </a:path>
              </a:pathLst>
            </a:custGeom>
            <a:solidFill>
              <a:srgbClr val="484B51"/>
            </a:solidFill>
            <a:ln w="12700">
              <a:solidFill>
                <a:srgbClr val="000000"/>
              </a:solidFill>
            </a:ln>
          </p:spPr>
        </p:sp>
      </p:grpSp>
      <p:grpSp>
        <p:nvGrpSpPr>
          <p:cNvPr id="32" name="Group 32"/>
          <p:cNvGrpSpPr/>
          <p:nvPr/>
        </p:nvGrpSpPr>
        <p:grpSpPr>
          <a:xfrm>
            <a:off x="7628335" y="7638455"/>
            <a:ext cx="513606" cy="513606"/>
            <a:chOff x="0" y="0"/>
            <a:chExt cx="684808" cy="684808"/>
          </a:xfrm>
        </p:grpSpPr>
        <p:sp>
          <p:nvSpPr>
            <p:cNvPr id="33" name="Freeform 33"/>
            <p:cNvSpPr/>
            <p:nvPr/>
          </p:nvSpPr>
          <p:spPr>
            <a:xfrm>
              <a:off x="0" y="0"/>
              <a:ext cx="684784" cy="684784"/>
            </a:xfrm>
            <a:custGeom>
              <a:avLst/>
              <a:gdLst/>
              <a:ahLst/>
              <a:cxnLst/>
              <a:rect l="l" t="t" r="r" b="b"/>
              <a:pathLst>
                <a:path w="684784" h="684784">
                  <a:moveTo>
                    <a:pt x="0" y="342392"/>
                  </a:moveTo>
                  <a:cubicBezTo>
                    <a:pt x="0" y="153289"/>
                    <a:pt x="153289" y="0"/>
                    <a:pt x="342392" y="0"/>
                  </a:cubicBezTo>
                  <a:cubicBezTo>
                    <a:pt x="531495" y="0"/>
                    <a:pt x="684784" y="153289"/>
                    <a:pt x="684784" y="342392"/>
                  </a:cubicBezTo>
                  <a:cubicBezTo>
                    <a:pt x="684784" y="531495"/>
                    <a:pt x="531495" y="684784"/>
                    <a:pt x="342392" y="684784"/>
                  </a:cubicBezTo>
                  <a:cubicBezTo>
                    <a:pt x="153289" y="684784"/>
                    <a:pt x="0" y="531495"/>
                    <a:pt x="0" y="342392"/>
                  </a:cubicBezTo>
                  <a:close/>
                </a:path>
              </a:pathLst>
            </a:custGeom>
            <a:solidFill>
              <a:srgbClr val="FFBC8F"/>
            </a:solidFill>
            <a:ln w="12700">
              <a:solidFill>
                <a:srgbClr val="000000"/>
              </a:solidFill>
            </a:ln>
          </p:spPr>
        </p:sp>
      </p:grpSp>
      <p:sp>
        <p:nvSpPr>
          <p:cNvPr id="34" name="Freeform 34" descr="preencoded.png"/>
          <p:cNvSpPr/>
          <p:nvPr/>
        </p:nvSpPr>
        <p:spPr>
          <a:xfrm>
            <a:off x="7769572" y="7779692"/>
            <a:ext cx="231130" cy="231130"/>
          </a:xfrm>
          <a:custGeom>
            <a:avLst/>
            <a:gdLst/>
            <a:ahLst/>
            <a:cxnLst/>
            <a:rect l="l" t="t" r="r" b="b"/>
            <a:pathLst>
              <a:path w="231130" h="231130">
                <a:moveTo>
                  <a:pt x="0" y="0"/>
                </a:moveTo>
                <a:lnTo>
                  <a:pt x="231130" y="0"/>
                </a:lnTo>
                <a:lnTo>
                  <a:pt x="231130" y="231130"/>
                </a:lnTo>
                <a:lnTo>
                  <a:pt x="0" y="231130"/>
                </a:lnTo>
                <a:lnTo>
                  <a:pt x="0" y="0"/>
                </a:lnTo>
                <a:close/>
              </a:path>
            </a:pathLst>
          </a:custGeom>
          <a:blipFill>
            <a:blip>
              <a:extLst>
                <a:ext uri="{96DAC541-7B7A-43D3-8B79-37D633B846F1}">
                  <asvg:svgBlip xmlns:asvg="http://schemas.microsoft.com/office/drawing/2016/SVG/main" r:embed="rId7"/>
                </a:ext>
              </a:extLst>
            </a:blip>
            <a:stretch>
              <a:fillRect t="-6000" b="-6000"/>
            </a:stretch>
          </a:blipFill>
        </p:spPr>
      </p:sp>
      <p:sp>
        <p:nvSpPr>
          <p:cNvPr id="35" name="TextBox 35"/>
          <p:cNvSpPr txBox="1"/>
          <p:nvPr/>
        </p:nvSpPr>
        <p:spPr>
          <a:xfrm>
            <a:off x="8360756" y="7762630"/>
            <a:ext cx="3374044" cy="286104"/>
          </a:xfrm>
          <a:prstGeom prst="rect">
            <a:avLst/>
          </a:prstGeom>
        </p:spPr>
        <p:txBody>
          <a:bodyPr wrap="square" lIns="0" tIns="0" rIns="0" bIns="0" rtlCol="0" anchor="t">
            <a:spAutoFit/>
          </a:bodyPr>
          <a:lstStyle/>
          <a:p>
            <a:pPr algn="l">
              <a:lnSpc>
                <a:spcPts val="2062"/>
              </a:lnSpc>
            </a:pPr>
            <a:r>
              <a:rPr lang="en-US" sz="2800" b="1" dirty="0">
                <a:solidFill>
                  <a:srgbClr val="D4D4D1"/>
                </a:solidFill>
                <a:latin typeface="Times New Roman" panose="02020603050405020304" pitchFamily="18" charset="0"/>
                <a:ea typeface="IBM Plex Sans Medium"/>
                <a:cs typeface="Times New Roman" panose="02020603050405020304" pitchFamily="18" charset="0"/>
                <a:sym typeface="IBM Plex Sans Medium"/>
              </a:rPr>
              <a:t>Intuitive Interface</a:t>
            </a:r>
          </a:p>
        </p:txBody>
      </p:sp>
      <p:sp>
        <p:nvSpPr>
          <p:cNvPr id="36" name="TextBox 36"/>
          <p:cNvSpPr txBox="1"/>
          <p:nvPr/>
        </p:nvSpPr>
        <p:spPr>
          <a:xfrm>
            <a:off x="7624617" y="8373591"/>
            <a:ext cx="9889331" cy="543418"/>
          </a:xfrm>
          <a:prstGeom prst="rect">
            <a:avLst/>
          </a:prstGeom>
        </p:spPr>
        <p:txBody>
          <a:bodyPr lIns="0" tIns="0" rIns="0" bIns="0" rtlCol="0" anchor="t">
            <a:spAutoFit/>
          </a:bodyPr>
          <a:lstStyle/>
          <a:p>
            <a:pPr algn="l">
              <a:lnSpc>
                <a:spcPts val="2125"/>
              </a:lnSpc>
            </a:pPr>
            <a:r>
              <a:rPr lang="en-US" sz="2400" dirty="0">
                <a:solidFill>
                  <a:srgbClr val="D4D4D1"/>
                </a:solidFill>
                <a:latin typeface="Times New Roman" panose="02020603050405020304" pitchFamily="18" charset="0"/>
                <a:ea typeface="Roboto"/>
                <a:cs typeface="Times New Roman" panose="02020603050405020304" pitchFamily="18" charset="0"/>
                <a:sym typeface="Roboto"/>
              </a:rPr>
              <a:t>Designed for ease of use, requiring minimal training while maximizing efficiency for healthcare professionals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2242A"/>
            </a:solidFill>
            <a:ln w="12700">
              <a:solidFill>
                <a:srgbClr val="000000"/>
              </a:solidFill>
            </a:ln>
          </p:spPr>
        </p:sp>
      </p:grpSp>
      <p:grpSp>
        <p:nvGrpSpPr>
          <p:cNvPr id="4" name="Group 4"/>
          <p:cNvGrpSpPr/>
          <p:nvPr/>
        </p:nvGrpSpPr>
        <p:grpSpPr>
          <a:xfrm>
            <a:off x="0" y="18435"/>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92C32"/>
            </a:solidFill>
            <a:ln w="12700">
              <a:solidFill>
                <a:srgbClr val="000000"/>
              </a:solidFill>
            </a:ln>
          </p:spPr>
        </p:sp>
      </p:grpSp>
      <p:sp>
        <p:nvSpPr>
          <p:cNvPr id="6" name="TextBox 6"/>
          <p:cNvSpPr txBox="1"/>
          <p:nvPr/>
        </p:nvSpPr>
        <p:spPr>
          <a:xfrm>
            <a:off x="838200" y="1345183"/>
            <a:ext cx="13411200" cy="844718"/>
          </a:xfrm>
          <a:prstGeom prst="rect">
            <a:avLst/>
          </a:prstGeom>
        </p:spPr>
        <p:txBody>
          <a:bodyPr wrap="square" lIns="0" tIns="0" rIns="0" bIns="0" rtlCol="0" anchor="t">
            <a:spAutoFit/>
          </a:bodyPr>
          <a:lstStyle/>
          <a:p>
            <a:pPr algn="l">
              <a:lnSpc>
                <a:spcPts val="6937"/>
              </a:lnSpc>
            </a:pPr>
            <a:r>
              <a:rPr lang="en-US" sz="5562" b="1" dirty="0">
                <a:solidFill>
                  <a:srgbClr val="F3F3F2"/>
                </a:solidFill>
                <a:latin typeface="Times New Roman" panose="02020603050405020304" pitchFamily="18" charset="0"/>
                <a:ea typeface="IBM Plex Sans Medium"/>
                <a:cs typeface="Times New Roman" panose="02020603050405020304" pitchFamily="18" charset="0"/>
                <a:sym typeface="IBM Plex Sans Medium"/>
              </a:rPr>
              <a:t>Key Features and Benefits of Drishti</a:t>
            </a:r>
          </a:p>
        </p:txBody>
      </p:sp>
      <p:sp>
        <p:nvSpPr>
          <p:cNvPr id="7" name="TextBox 7"/>
          <p:cNvSpPr txBox="1"/>
          <p:nvPr/>
        </p:nvSpPr>
        <p:spPr>
          <a:xfrm>
            <a:off x="992238" y="3479600"/>
            <a:ext cx="3810000" cy="845681"/>
          </a:xfrm>
          <a:prstGeom prst="rect">
            <a:avLst/>
          </a:prstGeom>
        </p:spPr>
        <p:txBody>
          <a:bodyPr lIns="0" tIns="0" rIns="0" bIns="0" rtlCol="0" anchor="t">
            <a:spAutoFit/>
          </a:bodyPr>
          <a:lstStyle/>
          <a:p>
            <a:pPr algn="l">
              <a:lnSpc>
                <a:spcPts val="3437"/>
              </a:lnSpc>
            </a:pPr>
            <a:r>
              <a:rPr lang="en-US" sz="2750" b="1" dirty="0">
                <a:solidFill>
                  <a:srgbClr val="D4D4D1"/>
                </a:solidFill>
                <a:latin typeface="Times New Roman" panose="02020603050405020304" pitchFamily="18" charset="0"/>
                <a:ea typeface="IBM Plex Sans Medium"/>
                <a:cs typeface="Times New Roman" panose="02020603050405020304" pitchFamily="18" charset="0"/>
                <a:sym typeface="IBM Plex Sans Medium"/>
              </a:rPr>
              <a:t>Automated Image </a:t>
            </a:r>
            <a:r>
              <a:rPr lang="en-US" sz="2800" b="1" dirty="0">
                <a:solidFill>
                  <a:srgbClr val="D4D4D1"/>
                </a:solidFill>
                <a:latin typeface="Times New Roman" panose="02020603050405020304" pitchFamily="18" charset="0"/>
                <a:ea typeface="IBM Plex Sans Medium"/>
                <a:cs typeface="Times New Roman" panose="02020603050405020304" pitchFamily="18" charset="0"/>
                <a:sym typeface="IBM Plex Sans Medium"/>
              </a:rPr>
              <a:t>Analysis</a:t>
            </a:r>
          </a:p>
        </p:txBody>
      </p:sp>
      <p:sp>
        <p:nvSpPr>
          <p:cNvPr id="8" name="TextBox 8"/>
          <p:cNvSpPr txBox="1"/>
          <p:nvPr/>
        </p:nvSpPr>
        <p:spPr>
          <a:xfrm>
            <a:off x="992238" y="4449812"/>
            <a:ext cx="3810000" cy="2726708"/>
          </a:xfrm>
          <a:prstGeom prst="rect">
            <a:avLst/>
          </a:prstGeom>
        </p:spPr>
        <p:txBody>
          <a:bodyPr lIns="0" tIns="0" rIns="0" bIns="0" rtlCol="0" anchor="t">
            <a:spAutoFit/>
          </a:bodyPr>
          <a:lstStyle/>
          <a:p>
            <a:pPr algn="l">
              <a:lnSpc>
                <a:spcPts val="3562"/>
              </a:lnSpc>
            </a:pPr>
            <a:r>
              <a:rPr lang="en-US" sz="2400" dirty="0">
                <a:solidFill>
                  <a:srgbClr val="D4D4D1"/>
                </a:solidFill>
                <a:latin typeface="Times New Roman" panose="02020603050405020304" pitchFamily="18" charset="0"/>
                <a:ea typeface="Roboto"/>
                <a:cs typeface="Times New Roman" panose="02020603050405020304" pitchFamily="18" charset="0"/>
                <a:sym typeface="Roboto"/>
              </a:rPr>
              <a:t>Significantly reduces manual workload and minimizes human error through intelligent automation, allowing clinicians to focus on patient care</a:t>
            </a:r>
          </a:p>
        </p:txBody>
      </p:sp>
      <p:sp>
        <p:nvSpPr>
          <p:cNvPr id="9" name="TextBox 9"/>
          <p:cNvSpPr txBox="1"/>
          <p:nvPr/>
        </p:nvSpPr>
        <p:spPr>
          <a:xfrm>
            <a:off x="5156598" y="3479600"/>
            <a:ext cx="3544044" cy="409664"/>
          </a:xfrm>
          <a:prstGeom prst="rect">
            <a:avLst/>
          </a:prstGeom>
        </p:spPr>
        <p:txBody>
          <a:bodyPr lIns="0" tIns="0" rIns="0" bIns="0" rtlCol="0" anchor="t">
            <a:spAutoFit/>
          </a:bodyPr>
          <a:lstStyle/>
          <a:p>
            <a:pPr algn="l">
              <a:lnSpc>
                <a:spcPts val="3437"/>
              </a:lnSpc>
            </a:pPr>
            <a:r>
              <a:rPr lang="en-US" sz="2800" b="1" dirty="0">
                <a:solidFill>
                  <a:srgbClr val="D4D4D1"/>
                </a:solidFill>
                <a:latin typeface="Times New Roman" panose="02020603050405020304" pitchFamily="18" charset="0"/>
                <a:ea typeface="IBM Plex Sans Medium"/>
                <a:cs typeface="Times New Roman" panose="02020603050405020304" pitchFamily="18" charset="0"/>
                <a:sym typeface="IBM Plex Sans Medium"/>
              </a:rPr>
              <a:t>Early DR Detection</a:t>
            </a:r>
          </a:p>
        </p:txBody>
      </p:sp>
      <p:sp>
        <p:nvSpPr>
          <p:cNvPr id="10" name="TextBox 10"/>
          <p:cNvSpPr txBox="1"/>
          <p:nvPr/>
        </p:nvSpPr>
        <p:spPr>
          <a:xfrm>
            <a:off x="5156598" y="4006899"/>
            <a:ext cx="3810149" cy="2258632"/>
          </a:xfrm>
          <a:prstGeom prst="rect">
            <a:avLst/>
          </a:prstGeom>
        </p:spPr>
        <p:txBody>
          <a:bodyPr lIns="0" tIns="0" rIns="0" bIns="0" rtlCol="0" anchor="t">
            <a:spAutoFit/>
          </a:bodyPr>
          <a:lstStyle/>
          <a:p>
            <a:pPr algn="l">
              <a:lnSpc>
                <a:spcPts val="3562"/>
              </a:lnSpc>
            </a:pPr>
            <a:r>
              <a:rPr lang="en-US" sz="2400" dirty="0">
                <a:solidFill>
                  <a:srgbClr val="D4D4D1"/>
                </a:solidFill>
                <a:latin typeface="Times New Roman" panose="02020603050405020304" pitchFamily="18" charset="0"/>
                <a:ea typeface="Roboto"/>
                <a:cs typeface="Times New Roman" panose="02020603050405020304" pitchFamily="18" charset="0"/>
                <a:sym typeface="Roboto"/>
              </a:rPr>
              <a:t>Identifies subtle pathological signs and microaneurysms before patients experience any symptoms, enabling preventive intervention</a:t>
            </a:r>
          </a:p>
        </p:txBody>
      </p:sp>
      <p:sp>
        <p:nvSpPr>
          <p:cNvPr id="11" name="TextBox 11"/>
          <p:cNvSpPr txBox="1"/>
          <p:nvPr/>
        </p:nvSpPr>
        <p:spPr>
          <a:xfrm>
            <a:off x="9551119" y="3479600"/>
            <a:ext cx="3544044" cy="409664"/>
          </a:xfrm>
          <a:prstGeom prst="rect">
            <a:avLst/>
          </a:prstGeom>
        </p:spPr>
        <p:txBody>
          <a:bodyPr lIns="0" tIns="0" rIns="0" bIns="0" rtlCol="0" anchor="t">
            <a:spAutoFit/>
          </a:bodyPr>
          <a:lstStyle/>
          <a:p>
            <a:pPr algn="l">
              <a:lnSpc>
                <a:spcPts val="3437"/>
              </a:lnSpc>
            </a:pPr>
            <a:r>
              <a:rPr lang="en-US" sz="2800" b="1" dirty="0">
                <a:solidFill>
                  <a:srgbClr val="D4D4D1"/>
                </a:solidFill>
                <a:latin typeface="Times New Roman" panose="02020603050405020304" pitchFamily="18" charset="0"/>
                <a:ea typeface="IBM Plex Sans Medium"/>
                <a:cs typeface="Times New Roman" panose="02020603050405020304" pitchFamily="18" charset="0"/>
                <a:sym typeface="IBM Plex Sans Medium"/>
              </a:rPr>
              <a:t>Risk Prediction</a:t>
            </a:r>
          </a:p>
        </p:txBody>
      </p:sp>
      <p:sp>
        <p:nvSpPr>
          <p:cNvPr id="12" name="TextBox 12"/>
          <p:cNvSpPr txBox="1"/>
          <p:nvPr/>
        </p:nvSpPr>
        <p:spPr>
          <a:xfrm>
            <a:off x="9551119" y="4006899"/>
            <a:ext cx="3810149" cy="2265044"/>
          </a:xfrm>
          <a:prstGeom prst="rect">
            <a:avLst/>
          </a:prstGeom>
        </p:spPr>
        <p:txBody>
          <a:bodyPr lIns="0" tIns="0" rIns="0" bIns="0" rtlCol="0" anchor="t">
            <a:spAutoFit/>
          </a:bodyPr>
          <a:lstStyle/>
          <a:p>
            <a:pPr algn="l">
              <a:lnSpc>
                <a:spcPts val="3562"/>
              </a:lnSpc>
            </a:pPr>
            <a:r>
              <a:rPr lang="en-US" sz="2400" dirty="0">
                <a:solidFill>
                  <a:srgbClr val="D4D4D1"/>
                </a:solidFill>
                <a:latin typeface="Times New Roman" panose="02020603050405020304" pitchFamily="18" charset="0"/>
                <a:ea typeface="Roboto"/>
                <a:cs typeface="Times New Roman" panose="02020603050405020304" pitchFamily="18" charset="0"/>
                <a:sym typeface="Roboto"/>
              </a:rPr>
              <a:t>Leverages patient data and AI models to predict DR progression likelihood, facilitating personalized treatment planning</a:t>
            </a:r>
          </a:p>
        </p:txBody>
      </p:sp>
      <p:sp>
        <p:nvSpPr>
          <p:cNvPr id="13" name="TextBox 13"/>
          <p:cNvSpPr txBox="1"/>
          <p:nvPr/>
        </p:nvSpPr>
        <p:spPr>
          <a:xfrm>
            <a:off x="13919559" y="3473455"/>
            <a:ext cx="3544044" cy="409664"/>
          </a:xfrm>
          <a:prstGeom prst="rect">
            <a:avLst/>
          </a:prstGeom>
        </p:spPr>
        <p:txBody>
          <a:bodyPr lIns="0" tIns="0" rIns="0" bIns="0" rtlCol="0" anchor="t">
            <a:spAutoFit/>
          </a:bodyPr>
          <a:lstStyle/>
          <a:p>
            <a:pPr algn="l">
              <a:lnSpc>
                <a:spcPts val="3437"/>
              </a:lnSpc>
            </a:pPr>
            <a:r>
              <a:rPr lang="en-US" sz="2800" b="1" dirty="0">
                <a:solidFill>
                  <a:srgbClr val="D4D4D1"/>
                </a:solidFill>
                <a:latin typeface="Times New Roman" panose="02020603050405020304" pitchFamily="18" charset="0"/>
                <a:ea typeface="IBM Plex Sans Medium"/>
                <a:cs typeface="Times New Roman" panose="02020603050405020304" pitchFamily="18" charset="0"/>
                <a:sym typeface="IBM Plex Sans Medium"/>
              </a:rPr>
              <a:t>Enhanced Workflow</a:t>
            </a:r>
          </a:p>
        </p:txBody>
      </p:sp>
      <p:sp>
        <p:nvSpPr>
          <p:cNvPr id="14" name="TextBox 14"/>
          <p:cNvSpPr txBox="1"/>
          <p:nvPr/>
        </p:nvSpPr>
        <p:spPr>
          <a:xfrm>
            <a:off x="13919559" y="4000754"/>
            <a:ext cx="3810149" cy="2726708"/>
          </a:xfrm>
          <a:prstGeom prst="rect">
            <a:avLst/>
          </a:prstGeom>
        </p:spPr>
        <p:txBody>
          <a:bodyPr lIns="0" tIns="0" rIns="0" bIns="0" rtlCol="0" anchor="t">
            <a:spAutoFit/>
          </a:bodyPr>
          <a:lstStyle/>
          <a:p>
            <a:pPr algn="l">
              <a:lnSpc>
                <a:spcPts val="3562"/>
              </a:lnSpc>
            </a:pPr>
            <a:r>
              <a:rPr lang="en-US" sz="2400" dirty="0">
                <a:solidFill>
                  <a:srgbClr val="D4D4D1"/>
                </a:solidFill>
                <a:latin typeface="Times New Roman" panose="02020603050405020304" pitchFamily="18" charset="0"/>
                <a:ea typeface="Roboto"/>
                <a:cs typeface="Times New Roman" panose="02020603050405020304" pitchFamily="18" charset="0"/>
                <a:sym typeface="Roboto"/>
              </a:rPr>
              <a:t>Streamlines the entire screening process from image capture to diagnosis, dramatically improving clinic efficiency and patient throughput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2242A"/>
            </a:solidFill>
            <a:ln w="12700">
              <a:solidFill>
                <a:srgbClr val="000000"/>
              </a:solidFill>
            </a:ln>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92C32"/>
            </a:solidFill>
            <a:ln w="12700">
              <a:solidFill>
                <a:srgbClr val="000000"/>
              </a:solidFill>
            </a:ln>
          </p:spPr>
        </p:sp>
      </p:grpSp>
      <p:grpSp>
        <p:nvGrpSpPr>
          <p:cNvPr id="6" name="Group 6"/>
          <p:cNvGrpSpPr>
            <a:grpSpLocks noChangeAspect="1"/>
          </p:cNvGrpSpPr>
          <p:nvPr/>
        </p:nvGrpSpPr>
        <p:grpSpPr>
          <a:xfrm>
            <a:off x="0" y="0"/>
            <a:ext cx="6858000" cy="10287000"/>
            <a:chOff x="0" y="0"/>
            <a:chExt cx="9144000" cy="13716000"/>
          </a:xfrm>
        </p:grpSpPr>
        <p:sp>
          <p:nvSpPr>
            <p:cNvPr id="7" name="Freeform 7"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3"/>
              <a:stretch>
                <a:fillRect/>
              </a:stretch>
            </a:blipFill>
          </p:spPr>
        </p:sp>
      </p:grpSp>
      <p:sp>
        <p:nvSpPr>
          <p:cNvPr id="8" name="TextBox 8"/>
          <p:cNvSpPr txBox="1"/>
          <p:nvPr/>
        </p:nvSpPr>
        <p:spPr>
          <a:xfrm>
            <a:off x="7625804" y="294750"/>
            <a:ext cx="9290596" cy="659732"/>
          </a:xfrm>
          <a:prstGeom prst="rect">
            <a:avLst/>
          </a:prstGeom>
        </p:spPr>
        <p:txBody>
          <a:bodyPr wrap="square" lIns="0" tIns="0" rIns="0" bIns="0" rtlCol="0" anchor="t">
            <a:spAutoFit/>
          </a:bodyPr>
          <a:lstStyle/>
          <a:p>
            <a:pPr algn="l">
              <a:lnSpc>
                <a:spcPts val="5374"/>
              </a:lnSpc>
            </a:pPr>
            <a:r>
              <a:rPr lang="en-US" sz="4312" b="1" dirty="0">
                <a:solidFill>
                  <a:srgbClr val="F3F3F2"/>
                </a:solidFill>
                <a:latin typeface="Times New Roman" panose="02020603050405020304" pitchFamily="18" charset="0"/>
                <a:ea typeface="IBM Plex Sans Medium"/>
                <a:cs typeface="Times New Roman" panose="02020603050405020304" pitchFamily="18" charset="0"/>
                <a:sym typeface="IBM Plex Sans Medium"/>
              </a:rPr>
              <a:t>Advanced AI Models Driving Drishti</a:t>
            </a:r>
          </a:p>
        </p:txBody>
      </p:sp>
      <p:grpSp>
        <p:nvGrpSpPr>
          <p:cNvPr id="10" name="Group 10"/>
          <p:cNvGrpSpPr/>
          <p:nvPr/>
        </p:nvGrpSpPr>
        <p:grpSpPr>
          <a:xfrm>
            <a:off x="7625804" y="1962596"/>
            <a:ext cx="9894391" cy="28575"/>
            <a:chOff x="0" y="0"/>
            <a:chExt cx="13192522" cy="38100"/>
          </a:xfrm>
        </p:grpSpPr>
        <p:sp>
          <p:nvSpPr>
            <p:cNvPr id="11" name="Freeform 11"/>
            <p:cNvSpPr/>
            <p:nvPr/>
          </p:nvSpPr>
          <p:spPr>
            <a:xfrm>
              <a:off x="0" y="0"/>
              <a:ext cx="13192506" cy="38100"/>
            </a:xfrm>
            <a:custGeom>
              <a:avLst/>
              <a:gdLst/>
              <a:ahLst/>
              <a:cxnLst/>
              <a:rect l="l" t="t" r="r" b="b"/>
              <a:pathLst>
                <a:path w="13192506" h="38100">
                  <a:moveTo>
                    <a:pt x="0" y="0"/>
                  </a:moveTo>
                  <a:lnTo>
                    <a:pt x="13192506" y="0"/>
                  </a:lnTo>
                  <a:lnTo>
                    <a:pt x="13192506" y="38100"/>
                  </a:lnTo>
                  <a:lnTo>
                    <a:pt x="0" y="38100"/>
                  </a:lnTo>
                  <a:close/>
                </a:path>
              </a:pathLst>
            </a:custGeom>
            <a:solidFill>
              <a:srgbClr val="FFBC8F"/>
            </a:solidFill>
            <a:ln w="12700">
              <a:solidFill>
                <a:srgbClr val="000000"/>
              </a:solidFill>
            </a:ln>
          </p:spPr>
        </p:sp>
      </p:grpSp>
      <p:sp>
        <p:nvSpPr>
          <p:cNvPr id="12" name="TextBox 12"/>
          <p:cNvSpPr txBox="1"/>
          <p:nvPr/>
        </p:nvSpPr>
        <p:spPr>
          <a:xfrm>
            <a:off x="7610564" y="1587079"/>
            <a:ext cx="5724436" cy="350865"/>
          </a:xfrm>
          <a:prstGeom prst="rect">
            <a:avLst/>
          </a:prstGeom>
        </p:spPr>
        <p:txBody>
          <a:bodyPr wrap="square" lIns="0" tIns="0" rIns="0" bIns="0" rtlCol="0" anchor="t">
            <a:spAutoFit/>
          </a:bodyPr>
          <a:lstStyle/>
          <a:p>
            <a:pPr algn="l">
              <a:lnSpc>
                <a:spcPts val="2687"/>
              </a:lnSpc>
            </a:pPr>
            <a:r>
              <a:rPr lang="en-US" sz="2800" b="1" dirty="0">
                <a:solidFill>
                  <a:srgbClr val="D4D4D1"/>
                </a:solidFill>
                <a:latin typeface="Times New Roman" panose="02020603050405020304" pitchFamily="18" charset="0"/>
                <a:ea typeface="IBM Plex Sans Medium"/>
                <a:cs typeface="Times New Roman" panose="02020603050405020304" pitchFamily="18" charset="0"/>
                <a:sym typeface="IBM Plex Sans Medium"/>
              </a:rPr>
              <a:t>Deep Learning Architecture</a:t>
            </a:r>
          </a:p>
        </p:txBody>
      </p:sp>
      <p:sp>
        <p:nvSpPr>
          <p:cNvPr id="13" name="TextBox 13"/>
          <p:cNvSpPr txBox="1"/>
          <p:nvPr/>
        </p:nvSpPr>
        <p:spPr>
          <a:xfrm>
            <a:off x="7610564" y="2084523"/>
            <a:ext cx="9894391" cy="1038746"/>
          </a:xfrm>
          <a:prstGeom prst="rect">
            <a:avLst/>
          </a:prstGeom>
        </p:spPr>
        <p:txBody>
          <a:bodyPr lIns="0" tIns="0" rIns="0" bIns="0" rtlCol="0" anchor="t">
            <a:spAutoFit/>
          </a:bodyPr>
          <a:lstStyle/>
          <a:p>
            <a:pPr algn="l">
              <a:lnSpc>
                <a:spcPts val="2749"/>
              </a:lnSpc>
            </a:pPr>
            <a:r>
              <a:rPr lang="en-US" sz="2400" dirty="0">
                <a:solidFill>
                  <a:srgbClr val="D4D4D1"/>
                </a:solidFill>
                <a:latin typeface="Times New Roman" panose="02020603050405020304" pitchFamily="18" charset="0"/>
                <a:ea typeface="Roboto"/>
                <a:cs typeface="Times New Roman" panose="02020603050405020304" pitchFamily="18" charset="0"/>
                <a:sym typeface="Roboto"/>
              </a:rPr>
              <a:t>Powered by convolutional neural networks trained on extensive datasets containing hundreds of thousands of annotated retinal images from diverse patient populations</a:t>
            </a:r>
          </a:p>
        </p:txBody>
      </p:sp>
      <p:grpSp>
        <p:nvGrpSpPr>
          <p:cNvPr id="15" name="Group 15"/>
          <p:cNvGrpSpPr/>
          <p:nvPr/>
        </p:nvGrpSpPr>
        <p:grpSpPr>
          <a:xfrm>
            <a:off x="7625804" y="4033540"/>
            <a:ext cx="9894391" cy="28575"/>
            <a:chOff x="0" y="0"/>
            <a:chExt cx="13192522" cy="38100"/>
          </a:xfrm>
        </p:grpSpPr>
        <p:sp>
          <p:nvSpPr>
            <p:cNvPr id="16" name="Freeform 16"/>
            <p:cNvSpPr/>
            <p:nvPr/>
          </p:nvSpPr>
          <p:spPr>
            <a:xfrm>
              <a:off x="0" y="0"/>
              <a:ext cx="13192506" cy="38100"/>
            </a:xfrm>
            <a:custGeom>
              <a:avLst/>
              <a:gdLst/>
              <a:ahLst/>
              <a:cxnLst/>
              <a:rect l="l" t="t" r="r" b="b"/>
              <a:pathLst>
                <a:path w="13192506" h="38100">
                  <a:moveTo>
                    <a:pt x="0" y="0"/>
                  </a:moveTo>
                  <a:lnTo>
                    <a:pt x="13192506" y="0"/>
                  </a:lnTo>
                  <a:lnTo>
                    <a:pt x="13192506" y="38100"/>
                  </a:lnTo>
                  <a:lnTo>
                    <a:pt x="0" y="38100"/>
                  </a:lnTo>
                  <a:close/>
                </a:path>
              </a:pathLst>
            </a:custGeom>
            <a:solidFill>
              <a:srgbClr val="FFBC8F"/>
            </a:solidFill>
            <a:ln w="12700">
              <a:solidFill>
                <a:srgbClr val="000000"/>
              </a:solidFill>
            </a:ln>
          </p:spPr>
        </p:sp>
      </p:grpSp>
      <p:sp>
        <p:nvSpPr>
          <p:cNvPr id="17" name="TextBox 17"/>
          <p:cNvSpPr txBox="1"/>
          <p:nvPr/>
        </p:nvSpPr>
        <p:spPr>
          <a:xfrm>
            <a:off x="7619416" y="3671398"/>
            <a:ext cx="4572584" cy="350865"/>
          </a:xfrm>
          <a:prstGeom prst="rect">
            <a:avLst/>
          </a:prstGeom>
        </p:spPr>
        <p:txBody>
          <a:bodyPr wrap="square" lIns="0" tIns="0" rIns="0" bIns="0" rtlCol="0" anchor="t">
            <a:spAutoFit/>
          </a:bodyPr>
          <a:lstStyle/>
          <a:p>
            <a:pPr algn="l">
              <a:lnSpc>
                <a:spcPts val="2687"/>
              </a:lnSpc>
            </a:pPr>
            <a:r>
              <a:rPr lang="en-US" sz="2800" b="1" dirty="0">
                <a:solidFill>
                  <a:srgbClr val="D4D4D1"/>
                </a:solidFill>
                <a:latin typeface="Times New Roman" panose="02020603050405020304" pitchFamily="18" charset="0"/>
                <a:ea typeface="IBM Plex Sans Medium"/>
                <a:cs typeface="Times New Roman" panose="02020603050405020304" pitchFamily="18" charset="0"/>
                <a:sym typeface="IBM Plex Sans Medium"/>
              </a:rPr>
              <a:t>Exceptional Accuracy</a:t>
            </a:r>
          </a:p>
        </p:txBody>
      </p:sp>
      <p:sp>
        <p:nvSpPr>
          <p:cNvPr id="18" name="TextBox 18"/>
          <p:cNvSpPr txBox="1"/>
          <p:nvPr/>
        </p:nvSpPr>
        <p:spPr>
          <a:xfrm>
            <a:off x="7601128" y="4126892"/>
            <a:ext cx="9894391" cy="692497"/>
          </a:xfrm>
          <a:prstGeom prst="rect">
            <a:avLst/>
          </a:prstGeom>
        </p:spPr>
        <p:txBody>
          <a:bodyPr lIns="0" tIns="0" rIns="0" bIns="0" rtlCol="0" anchor="t">
            <a:spAutoFit/>
          </a:bodyPr>
          <a:lstStyle/>
          <a:p>
            <a:pPr algn="l">
              <a:lnSpc>
                <a:spcPts val="2749"/>
              </a:lnSpc>
            </a:pPr>
            <a:r>
              <a:rPr lang="en-US" sz="2400" dirty="0">
                <a:solidFill>
                  <a:srgbClr val="D4D4D1"/>
                </a:solidFill>
                <a:latin typeface="Times New Roman" panose="02020603050405020304" pitchFamily="18" charset="0"/>
                <a:ea typeface="Roboto"/>
                <a:cs typeface="Times New Roman" panose="02020603050405020304" pitchFamily="18" charset="0"/>
                <a:sym typeface="Roboto"/>
              </a:rPr>
              <a:t>Demonstrates high sensitivity (&gt;95%) and specificity (&gt;90%) in detecting various stages of DR, matching or exceeding human expert performance</a:t>
            </a:r>
          </a:p>
        </p:txBody>
      </p:sp>
      <p:grpSp>
        <p:nvGrpSpPr>
          <p:cNvPr id="20" name="Group 20"/>
          <p:cNvGrpSpPr/>
          <p:nvPr/>
        </p:nvGrpSpPr>
        <p:grpSpPr>
          <a:xfrm>
            <a:off x="7625804" y="6104484"/>
            <a:ext cx="9894391" cy="28575"/>
            <a:chOff x="0" y="0"/>
            <a:chExt cx="13192522" cy="38100"/>
          </a:xfrm>
        </p:grpSpPr>
        <p:sp>
          <p:nvSpPr>
            <p:cNvPr id="21" name="Freeform 21"/>
            <p:cNvSpPr/>
            <p:nvPr/>
          </p:nvSpPr>
          <p:spPr>
            <a:xfrm>
              <a:off x="0" y="0"/>
              <a:ext cx="13192506" cy="38100"/>
            </a:xfrm>
            <a:custGeom>
              <a:avLst/>
              <a:gdLst/>
              <a:ahLst/>
              <a:cxnLst/>
              <a:rect l="l" t="t" r="r" b="b"/>
              <a:pathLst>
                <a:path w="13192506" h="38100">
                  <a:moveTo>
                    <a:pt x="0" y="0"/>
                  </a:moveTo>
                  <a:lnTo>
                    <a:pt x="13192506" y="0"/>
                  </a:lnTo>
                  <a:lnTo>
                    <a:pt x="13192506" y="38100"/>
                  </a:lnTo>
                  <a:lnTo>
                    <a:pt x="0" y="38100"/>
                  </a:lnTo>
                  <a:close/>
                </a:path>
              </a:pathLst>
            </a:custGeom>
            <a:solidFill>
              <a:srgbClr val="FFBC8F"/>
            </a:solidFill>
            <a:ln w="12700">
              <a:solidFill>
                <a:srgbClr val="000000"/>
              </a:solidFill>
            </a:ln>
          </p:spPr>
        </p:sp>
      </p:grpSp>
      <p:sp>
        <p:nvSpPr>
          <p:cNvPr id="22" name="TextBox 22"/>
          <p:cNvSpPr txBox="1"/>
          <p:nvPr/>
        </p:nvSpPr>
        <p:spPr>
          <a:xfrm>
            <a:off x="7625804" y="5751174"/>
            <a:ext cx="4870996" cy="346249"/>
          </a:xfrm>
          <a:prstGeom prst="rect">
            <a:avLst/>
          </a:prstGeom>
        </p:spPr>
        <p:txBody>
          <a:bodyPr wrap="square" lIns="0" tIns="0" rIns="0" bIns="0" rtlCol="0" anchor="t">
            <a:spAutoFit/>
          </a:bodyPr>
          <a:lstStyle/>
          <a:p>
            <a:pPr algn="l">
              <a:lnSpc>
                <a:spcPts val="2687"/>
              </a:lnSpc>
            </a:pPr>
            <a:r>
              <a:rPr lang="en-US" sz="2800" b="1" dirty="0">
                <a:solidFill>
                  <a:srgbClr val="D4D4D1"/>
                </a:solidFill>
                <a:latin typeface="Times New Roman" panose="02020603050405020304" pitchFamily="18" charset="0"/>
                <a:ea typeface="IBM Plex Sans Medium"/>
                <a:cs typeface="Times New Roman" panose="02020603050405020304" pitchFamily="18" charset="0"/>
                <a:sym typeface="IBM Plex Sans Medium"/>
              </a:rPr>
              <a:t>Continuous Learning</a:t>
            </a:r>
          </a:p>
        </p:txBody>
      </p:sp>
      <p:sp>
        <p:nvSpPr>
          <p:cNvPr id="23" name="TextBox 23"/>
          <p:cNvSpPr txBox="1"/>
          <p:nvPr/>
        </p:nvSpPr>
        <p:spPr>
          <a:xfrm>
            <a:off x="7625804" y="6191603"/>
            <a:ext cx="10204996" cy="692497"/>
          </a:xfrm>
          <a:prstGeom prst="rect">
            <a:avLst/>
          </a:prstGeom>
        </p:spPr>
        <p:txBody>
          <a:bodyPr wrap="square" lIns="0" tIns="0" rIns="0" bIns="0" rtlCol="0" anchor="t">
            <a:spAutoFit/>
          </a:bodyPr>
          <a:lstStyle/>
          <a:p>
            <a:pPr algn="l">
              <a:lnSpc>
                <a:spcPts val="2749"/>
              </a:lnSpc>
            </a:pPr>
            <a:r>
              <a:rPr lang="en-US" sz="2400" dirty="0">
                <a:solidFill>
                  <a:srgbClr val="D4D4D1"/>
                </a:solidFill>
                <a:latin typeface="Times New Roman" panose="02020603050405020304" pitchFamily="18" charset="0"/>
                <a:ea typeface="Roboto"/>
                <a:cs typeface="Times New Roman" panose="02020603050405020304" pitchFamily="18" charset="0"/>
                <a:sym typeface="Roboto"/>
              </a:rPr>
              <a:t>Models continuously improve through exposure to new clinical data and feedback, adapting to evolving medical knowledge and diverse patient presentations</a:t>
            </a:r>
          </a:p>
        </p:txBody>
      </p:sp>
      <p:grpSp>
        <p:nvGrpSpPr>
          <p:cNvPr id="25" name="Group 25"/>
          <p:cNvGrpSpPr/>
          <p:nvPr/>
        </p:nvGrpSpPr>
        <p:grpSpPr>
          <a:xfrm>
            <a:off x="7625804" y="8175426"/>
            <a:ext cx="9894391" cy="28575"/>
            <a:chOff x="0" y="0"/>
            <a:chExt cx="13192522" cy="38100"/>
          </a:xfrm>
        </p:grpSpPr>
        <p:sp>
          <p:nvSpPr>
            <p:cNvPr id="26" name="Freeform 26"/>
            <p:cNvSpPr/>
            <p:nvPr/>
          </p:nvSpPr>
          <p:spPr>
            <a:xfrm>
              <a:off x="0" y="0"/>
              <a:ext cx="13192506" cy="38100"/>
            </a:xfrm>
            <a:custGeom>
              <a:avLst/>
              <a:gdLst/>
              <a:ahLst/>
              <a:cxnLst/>
              <a:rect l="l" t="t" r="r" b="b"/>
              <a:pathLst>
                <a:path w="13192506" h="38100">
                  <a:moveTo>
                    <a:pt x="0" y="0"/>
                  </a:moveTo>
                  <a:lnTo>
                    <a:pt x="13192506" y="0"/>
                  </a:lnTo>
                  <a:lnTo>
                    <a:pt x="13192506" y="38100"/>
                  </a:lnTo>
                  <a:lnTo>
                    <a:pt x="0" y="38100"/>
                  </a:lnTo>
                  <a:close/>
                </a:path>
              </a:pathLst>
            </a:custGeom>
            <a:solidFill>
              <a:srgbClr val="FFBC8F"/>
            </a:solidFill>
            <a:ln w="12700">
              <a:solidFill>
                <a:srgbClr val="000000"/>
              </a:solidFill>
            </a:ln>
          </p:spPr>
        </p:sp>
      </p:grpSp>
      <p:sp>
        <p:nvSpPr>
          <p:cNvPr id="27" name="TextBox 27"/>
          <p:cNvSpPr txBox="1"/>
          <p:nvPr/>
        </p:nvSpPr>
        <p:spPr>
          <a:xfrm>
            <a:off x="7625804" y="7778478"/>
            <a:ext cx="3651796" cy="346249"/>
          </a:xfrm>
          <a:prstGeom prst="rect">
            <a:avLst/>
          </a:prstGeom>
        </p:spPr>
        <p:txBody>
          <a:bodyPr wrap="square" lIns="0" tIns="0" rIns="0" bIns="0" rtlCol="0" anchor="t">
            <a:spAutoFit/>
          </a:bodyPr>
          <a:lstStyle/>
          <a:p>
            <a:pPr algn="l">
              <a:lnSpc>
                <a:spcPts val="2687"/>
              </a:lnSpc>
            </a:pPr>
            <a:r>
              <a:rPr lang="en-US" sz="2800" b="1" dirty="0">
                <a:solidFill>
                  <a:srgbClr val="D4D4D1"/>
                </a:solidFill>
                <a:latin typeface="Times New Roman" panose="02020603050405020304" pitchFamily="18" charset="0"/>
                <a:ea typeface="IBM Plex Sans Medium"/>
                <a:cs typeface="Times New Roman" panose="02020603050405020304" pitchFamily="18" charset="0"/>
                <a:sym typeface="IBM Plex Sans Medium"/>
              </a:rPr>
              <a:t>Seamless Integration</a:t>
            </a:r>
          </a:p>
        </p:txBody>
      </p:sp>
      <p:sp>
        <p:nvSpPr>
          <p:cNvPr id="28" name="TextBox 28"/>
          <p:cNvSpPr txBox="1"/>
          <p:nvPr/>
        </p:nvSpPr>
        <p:spPr>
          <a:xfrm>
            <a:off x="7613320" y="8262547"/>
            <a:ext cx="9894391" cy="692497"/>
          </a:xfrm>
          <a:prstGeom prst="rect">
            <a:avLst/>
          </a:prstGeom>
        </p:spPr>
        <p:txBody>
          <a:bodyPr lIns="0" tIns="0" rIns="0" bIns="0" rtlCol="0" anchor="t">
            <a:spAutoFit/>
          </a:bodyPr>
          <a:lstStyle/>
          <a:p>
            <a:pPr algn="l">
              <a:lnSpc>
                <a:spcPts val="2749"/>
              </a:lnSpc>
            </a:pPr>
            <a:r>
              <a:rPr lang="en-US" sz="2400" dirty="0">
                <a:solidFill>
                  <a:srgbClr val="D4D4D1"/>
                </a:solidFill>
                <a:latin typeface="Times New Roman" panose="02020603050405020304" pitchFamily="18" charset="0"/>
                <a:ea typeface="Roboto"/>
                <a:cs typeface="Times New Roman" panose="02020603050405020304" pitchFamily="18" charset="0"/>
                <a:sym typeface="Roboto"/>
              </a:rPr>
              <a:t>Designed to integrate effortlessly with existing hospital information systems, PACS, and electronic health records without disrupting established workflows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2400" y="-452303"/>
            <a:ext cx="19202400" cy="10881588"/>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2242A"/>
            </a:solidFill>
            <a:ln w="12700">
              <a:solidFill>
                <a:srgbClr val="000000"/>
              </a:solidFill>
            </a:ln>
          </p:spPr>
          <p:txBody>
            <a:bodyPr/>
            <a:lstStyle/>
            <a:p>
              <a:endParaRPr lang="en-IN" dirty="0"/>
            </a:p>
          </p:txBody>
        </p:sp>
      </p:grpSp>
      <p:sp>
        <p:nvSpPr>
          <p:cNvPr id="6" name="TextBox 6"/>
          <p:cNvSpPr txBox="1"/>
          <p:nvPr/>
        </p:nvSpPr>
        <p:spPr>
          <a:xfrm>
            <a:off x="496044" y="380256"/>
            <a:ext cx="9105156" cy="436017"/>
          </a:xfrm>
          <a:prstGeom prst="rect">
            <a:avLst/>
          </a:prstGeom>
        </p:spPr>
        <p:txBody>
          <a:bodyPr wrap="square" lIns="0" tIns="0" rIns="0" bIns="0" rtlCol="0" anchor="t">
            <a:spAutoFit/>
          </a:bodyPr>
          <a:lstStyle/>
          <a:p>
            <a:pPr algn="l">
              <a:lnSpc>
                <a:spcPts val="3437"/>
              </a:lnSpc>
            </a:pPr>
            <a:r>
              <a:rPr lang="en-US" sz="3600" b="1" dirty="0">
                <a:solidFill>
                  <a:srgbClr val="F3F3F2"/>
                </a:solidFill>
                <a:latin typeface="Times New Roman" panose="02020603050405020304" pitchFamily="18" charset="0"/>
                <a:ea typeface="IBM Plex Sans Medium"/>
                <a:cs typeface="Times New Roman" panose="02020603050405020304" pitchFamily="18" charset="0"/>
                <a:sym typeface="IBM Plex Sans Medium"/>
              </a:rPr>
              <a:t>Real-World Impact and Future Directions</a:t>
            </a:r>
          </a:p>
        </p:txBody>
      </p:sp>
      <p:sp>
        <p:nvSpPr>
          <p:cNvPr id="7" name="TextBox 7"/>
          <p:cNvSpPr txBox="1"/>
          <p:nvPr/>
        </p:nvSpPr>
        <p:spPr>
          <a:xfrm>
            <a:off x="512898" y="1072931"/>
            <a:ext cx="5583102" cy="286104"/>
          </a:xfrm>
          <a:prstGeom prst="rect">
            <a:avLst/>
          </a:prstGeom>
        </p:spPr>
        <p:txBody>
          <a:bodyPr wrap="square" lIns="0" tIns="0" rIns="0" bIns="0" rtlCol="0" anchor="t">
            <a:spAutoFit/>
          </a:bodyPr>
          <a:lstStyle/>
          <a:p>
            <a:pPr algn="l">
              <a:lnSpc>
                <a:spcPts val="2062"/>
              </a:lnSpc>
            </a:pPr>
            <a:r>
              <a:rPr lang="en-US" sz="2800" b="1" dirty="0">
                <a:solidFill>
                  <a:srgbClr val="FFBC8F"/>
                </a:solidFill>
                <a:latin typeface="Times New Roman" panose="02020603050405020304" pitchFamily="18" charset="0"/>
                <a:ea typeface="IBM Plex Sans Medium"/>
                <a:cs typeface="Times New Roman" panose="02020603050405020304" pitchFamily="18" charset="0"/>
                <a:sym typeface="IBM Plex Sans Medium"/>
              </a:rPr>
              <a:t>Transforming Patient Outcomes</a:t>
            </a:r>
          </a:p>
        </p:txBody>
      </p:sp>
      <p:sp>
        <p:nvSpPr>
          <p:cNvPr id="8" name="TextBox 8"/>
          <p:cNvSpPr txBox="1"/>
          <p:nvPr/>
        </p:nvSpPr>
        <p:spPr>
          <a:xfrm>
            <a:off x="496044" y="1537246"/>
            <a:ext cx="10239078" cy="1477328"/>
          </a:xfrm>
          <a:prstGeom prst="rect">
            <a:avLst/>
          </a:prstGeom>
        </p:spPr>
        <p:txBody>
          <a:bodyPr lIns="0" tIns="0" rIns="0" bIns="0" rtlCol="0" anchor="t">
            <a:spAutoFit/>
          </a:bodyPr>
          <a:lstStyle/>
          <a:p>
            <a:pPr algn="l"/>
            <a:r>
              <a:rPr lang="en-US" sz="2400" dirty="0">
                <a:solidFill>
                  <a:srgbClr val="D4D4D1"/>
                </a:solidFill>
                <a:latin typeface="Times New Roman" panose="02020603050405020304" pitchFamily="18" charset="0"/>
                <a:ea typeface="Roboto"/>
                <a:cs typeface="Times New Roman" panose="02020603050405020304" pitchFamily="18" charset="0"/>
                <a:sym typeface="Roboto"/>
              </a:rPr>
              <a:t>Clinical implementations of Drishti have demonstrated remarkable results across diverse healthcare settings. In pilot programs, the platform has successfully screened over 50,000 patients, identifying early-stage DR in individuals who would have otherwise gone undiagnosed until vision loss occurred.</a:t>
            </a:r>
          </a:p>
        </p:txBody>
      </p:sp>
      <p:grpSp>
        <p:nvGrpSpPr>
          <p:cNvPr id="9" name="Group 9"/>
          <p:cNvGrpSpPr/>
          <p:nvPr/>
        </p:nvGrpSpPr>
        <p:grpSpPr>
          <a:xfrm>
            <a:off x="357534" y="3235605"/>
            <a:ext cx="318897" cy="318897"/>
            <a:chOff x="0" y="781406"/>
            <a:chExt cx="425196" cy="425196"/>
          </a:xfrm>
        </p:grpSpPr>
        <p:sp>
          <p:nvSpPr>
            <p:cNvPr id="10" name="Freeform 10"/>
            <p:cNvSpPr/>
            <p:nvPr/>
          </p:nvSpPr>
          <p:spPr>
            <a:xfrm>
              <a:off x="0" y="781406"/>
              <a:ext cx="425196" cy="425196"/>
            </a:xfrm>
            <a:custGeom>
              <a:avLst/>
              <a:gdLst/>
              <a:ahLst/>
              <a:cxnLst/>
              <a:rect l="l" t="t" r="r" b="b"/>
              <a:pathLst>
                <a:path w="425196" h="425196">
                  <a:moveTo>
                    <a:pt x="0" y="28321"/>
                  </a:moveTo>
                  <a:cubicBezTo>
                    <a:pt x="0" y="12700"/>
                    <a:pt x="12700" y="0"/>
                    <a:pt x="28321" y="0"/>
                  </a:cubicBezTo>
                  <a:lnTo>
                    <a:pt x="396875" y="0"/>
                  </a:lnTo>
                  <a:cubicBezTo>
                    <a:pt x="412496" y="0"/>
                    <a:pt x="425196" y="12700"/>
                    <a:pt x="425196" y="28321"/>
                  </a:cubicBezTo>
                  <a:lnTo>
                    <a:pt x="425196" y="396875"/>
                  </a:lnTo>
                  <a:cubicBezTo>
                    <a:pt x="425196" y="412496"/>
                    <a:pt x="412496" y="425196"/>
                    <a:pt x="396875" y="425196"/>
                  </a:cubicBezTo>
                  <a:lnTo>
                    <a:pt x="28321" y="425196"/>
                  </a:lnTo>
                  <a:cubicBezTo>
                    <a:pt x="12700" y="425196"/>
                    <a:pt x="0" y="412496"/>
                    <a:pt x="0" y="396875"/>
                  </a:cubicBezTo>
                  <a:close/>
                </a:path>
              </a:pathLst>
            </a:custGeom>
            <a:solidFill>
              <a:srgbClr val="484B51"/>
            </a:solidFill>
            <a:ln w="12700">
              <a:solidFill>
                <a:srgbClr val="000000"/>
              </a:solidFill>
            </a:ln>
          </p:spPr>
        </p:sp>
      </p:grpSp>
      <p:sp>
        <p:nvSpPr>
          <p:cNvPr id="11" name="Freeform 11" descr="preencoded.png"/>
          <p:cNvSpPr/>
          <p:nvPr/>
        </p:nvSpPr>
        <p:spPr>
          <a:xfrm>
            <a:off x="423327" y="3291227"/>
            <a:ext cx="212526" cy="212526"/>
          </a:xfrm>
          <a:custGeom>
            <a:avLst/>
            <a:gdLst/>
            <a:ahLst/>
            <a:cxnLst/>
            <a:rect l="l" t="t" r="r" b="b"/>
            <a:pathLst>
              <a:path w="212526" h="212526">
                <a:moveTo>
                  <a:pt x="0" y="0"/>
                </a:moveTo>
                <a:lnTo>
                  <a:pt x="212526" y="0"/>
                </a:lnTo>
                <a:lnTo>
                  <a:pt x="212526" y="212526"/>
                </a:lnTo>
                <a:lnTo>
                  <a:pt x="0" y="212526"/>
                </a:lnTo>
                <a:lnTo>
                  <a:pt x="0" y="0"/>
                </a:lnTo>
                <a:close/>
              </a:path>
            </a:pathLst>
          </a:custGeom>
          <a:blipFill>
            <a:blip>
              <a:extLst>
                <a:ext uri="{96DAC541-7B7A-43D3-8B79-37D633B846F1}">
                  <asvg:svgBlip xmlns:asvg="http://schemas.microsoft.com/office/drawing/2016/SVG/main" r:embed="rId3"/>
                </a:ext>
              </a:extLst>
            </a:blip>
            <a:stretch>
              <a:fillRect t="-6521" b="-6521"/>
            </a:stretch>
          </a:blipFill>
        </p:spPr>
      </p:sp>
      <p:sp>
        <p:nvSpPr>
          <p:cNvPr id="12" name="TextBox 12"/>
          <p:cNvSpPr txBox="1"/>
          <p:nvPr/>
        </p:nvSpPr>
        <p:spPr>
          <a:xfrm>
            <a:off x="841783" y="3338777"/>
            <a:ext cx="4689653" cy="247632"/>
          </a:xfrm>
          <a:prstGeom prst="rect">
            <a:avLst/>
          </a:prstGeom>
        </p:spPr>
        <p:txBody>
          <a:bodyPr wrap="square" lIns="0" tIns="0" rIns="0" bIns="0" rtlCol="0" anchor="t">
            <a:spAutoFit/>
          </a:bodyPr>
          <a:lstStyle/>
          <a:p>
            <a:pPr algn="l">
              <a:lnSpc>
                <a:spcPts val="1687"/>
              </a:lnSpc>
            </a:pPr>
            <a:r>
              <a:rPr lang="en-US" sz="2800" b="1" dirty="0">
                <a:solidFill>
                  <a:srgbClr val="D4D4D1"/>
                </a:solidFill>
                <a:latin typeface="Times New Roman" panose="02020603050405020304" pitchFamily="18" charset="0"/>
                <a:ea typeface="IBM Plex Sans Medium"/>
                <a:cs typeface="Times New Roman" panose="02020603050405020304" pitchFamily="18" charset="0"/>
                <a:sym typeface="IBM Plex Sans Medium"/>
              </a:rPr>
              <a:t>Proven Clinical Effectiveness</a:t>
            </a:r>
          </a:p>
        </p:txBody>
      </p:sp>
      <p:sp>
        <p:nvSpPr>
          <p:cNvPr id="13" name="TextBox 13"/>
          <p:cNvSpPr txBox="1"/>
          <p:nvPr/>
        </p:nvSpPr>
        <p:spPr>
          <a:xfrm>
            <a:off x="904643" y="3607272"/>
            <a:ext cx="7398774" cy="738664"/>
          </a:xfrm>
          <a:prstGeom prst="rect">
            <a:avLst/>
          </a:prstGeom>
        </p:spPr>
        <p:txBody>
          <a:bodyPr wrap="square" lIns="0" tIns="0" rIns="0" bIns="0" rtlCol="0" anchor="t">
            <a:spAutoFit/>
          </a:bodyPr>
          <a:lstStyle/>
          <a:p>
            <a:pPr algn="l"/>
            <a:r>
              <a:rPr lang="en-US" sz="2400" dirty="0">
                <a:solidFill>
                  <a:srgbClr val="D4D4D1"/>
                </a:solidFill>
                <a:latin typeface="Times New Roman" panose="02020603050405020304" pitchFamily="18" charset="0"/>
                <a:ea typeface="Roboto"/>
                <a:cs typeface="Times New Roman" panose="02020603050405020304" pitchFamily="18" charset="0"/>
                <a:sym typeface="Roboto"/>
              </a:rPr>
              <a:t>Real case studies show 40% increase in early-stage DR detection rates compared to traditional screening methods</a:t>
            </a:r>
          </a:p>
        </p:txBody>
      </p:sp>
      <p:grpSp>
        <p:nvGrpSpPr>
          <p:cNvPr id="14" name="Group 14"/>
          <p:cNvGrpSpPr/>
          <p:nvPr/>
        </p:nvGrpSpPr>
        <p:grpSpPr>
          <a:xfrm>
            <a:off x="349203" y="6629770"/>
            <a:ext cx="318897" cy="318897"/>
            <a:chOff x="-238329" y="-657704"/>
            <a:chExt cx="425196" cy="425196"/>
          </a:xfrm>
        </p:grpSpPr>
        <p:sp>
          <p:nvSpPr>
            <p:cNvPr id="15" name="Freeform 15"/>
            <p:cNvSpPr/>
            <p:nvPr/>
          </p:nvSpPr>
          <p:spPr>
            <a:xfrm>
              <a:off x="-238329" y="-657704"/>
              <a:ext cx="425196" cy="425196"/>
            </a:xfrm>
            <a:custGeom>
              <a:avLst/>
              <a:gdLst/>
              <a:ahLst/>
              <a:cxnLst/>
              <a:rect l="l" t="t" r="r" b="b"/>
              <a:pathLst>
                <a:path w="425196" h="425196">
                  <a:moveTo>
                    <a:pt x="0" y="28321"/>
                  </a:moveTo>
                  <a:cubicBezTo>
                    <a:pt x="0" y="12700"/>
                    <a:pt x="12700" y="0"/>
                    <a:pt x="28321" y="0"/>
                  </a:cubicBezTo>
                  <a:lnTo>
                    <a:pt x="396875" y="0"/>
                  </a:lnTo>
                  <a:cubicBezTo>
                    <a:pt x="412496" y="0"/>
                    <a:pt x="425196" y="12700"/>
                    <a:pt x="425196" y="28321"/>
                  </a:cubicBezTo>
                  <a:lnTo>
                    <a:pt x="425196" y="396875"/>
                  </a:lnTo>
                  <a:cubicBezTo>
                    <a:pt x="425196" y="412496"/>
                    <a:pt x="412496" y="425196"/>
                    <a:pt x="396875" y="425196"/>
                  </a:cubicBezTo>
                  <a:lnTo>
                    <a:pt x="28321" y="425196"/>
                  </a:lnTo>
                  <a:cubicBezTo>
                    <a:pt x="12700" y="425196"/>
                    <a:pt x="0" y="412496"/>
                    <a:pt x="0" y="396875"/>
                  </a:cubicBezTo>
                  <a:close/>
                </a:path>
              </a:pathLst>
            </a:custGeom>
            <a:solidFill>
              <a:srgbClr val="484B51"/>
            </a:solidFill>
            <a:ln w="12700">
              <a:solidFill>
                <a:srgbClr val="000000"/>
              </a:solidFill>
            </a:ln>
          </p:spPr>
        </p:sp>
      </p:grpSp>
      <p:sp>
        <p:nvSpPr>
          <p:cNvPr id="17" name="TextBox 17"/>
          <p:cNvSpPr txBox="1"/>
          <p:nvPr/>
        </p:nvSpPr>
        <p:spPr>
          <a:xfrm>
            <a:off x="952062" y="6767589"/>
            <a:ext cx="4579374" cy="247632"/>
          </a:xfrm>
          <a:prstGeom prst="rect">
            <a:avLst/>
          </a:prstGeom>
        </p:spPr>
        <p:txBody>
          <a:bodyPr wrap="square" lIns="0" tIns="0" rIns="0" bIns="0" rtlCol="0" anchor="t">
            <a:spAutoFit/>
          </a:bodyPr>
          <a:lstStyle/>
          <a:p>
            <a:pPr algn="l">
              <a:lnSpc>
                <a:spcPts val="1687"/>
              </a:lnSpc>
            </a:pPr>
            <a:r>
              <a:rPr lang="en-US" sz="2800" b="1" dirty="0">
                <a:solidFill>
                  <a:srgbClr val="D4D4D1"/>
                </a:solidFill>
                <a:latin typeface="Times New Roman" panose="02020603050405020304" pitchFamily="18" charset="0"/>
                <a:ea typeface="IBM Plex Sans Medium"/>
                <a:cs typeface="Times New Roman" panose="02020603050405020304" pitchFamily="18" charset="0"/>
                <a:sym typeface="IBM Plex Sans Medium"/>
              </a:rPr>
              <a:t>Expanding Global Access</a:t>
            </a:r>
          </a:p>
        </p:txBody>
      </p:sp>
      <p:sp>
        <p:nvSpPr>
          <p:cNvPr id="18" name="TextBox 18"/>
          <p:cNvSpPr txBox="1"/>
          <p:nvPr/>
        </p:nvSpPr>
        <p:spPr>
          <a:xfrm>
            <a:off x="983226" y="7090384"/>
            <a:ext cx="6282334" cy="1107996"/>
          </a:xfrm>
          <a:prstGeom prst="rect">
            <a:avLst/>
          </a:prstGeom>
        </p:spPr>
        <p:txBody>
          <a:bodyPr wrap="square" lIns="0" tIns="0" rIns="0" bIns="0" rtlCol="0" anchor="t">
            <a:spAutoFit/>
          </a:bodyPr>
          <a:lstStyle/>
          <a:p>
            <a:pPr algn="l"/>
            <a:r>
              <a:rPr lang="en-US" sz="2400" dirty="0">
                <a:solidFill>
                  <a:srgbClr val="D4D4D1"/>
                </a:solidFill>
                <a:latin typeface="Times New Roman" panose="02020603050405020304" pitchFamily="18" charset="0"/>
                <a:ea typeface="Roboto"/>
                <a:cs typeface="Times New Roman" panose="02020603050405020304" pitchFamily="18" charset="0"/>
                <a:sym typeface="Roboto"/>
              </a:rPr>
              <a:t>Bringing world-class DR screening to rural clinics, mobile health units, and underserved regions across continents</a:t>
            </a:r>
          </a:p>
        </p:txBody>
      </p:sp>
      <p:grpSp>
        <p:nvGrpSpPr>
          <p:cNvPr id="19" name="Group 19"/>
          <p:cNvGrpSpPr/>
          <p:nvPr/>
        </p:nvGrpSpPr>
        <p:grpSpPr>
          <a:xfrm>
            <a:off x="359586" y="4920420"/>
            <a:ext cx="318939" cy="318939"/>
            <a:chOff x="0" y="0"/>
            <a:chExt cx="425252" cy="425252"/>
          </a:xfrm>
        </p:grpSpPr>
        <p:sp>
          <p:nvSpPr>
            <p:cNvPr id="20" name="Freeform 20"/>
            <p:cNvSpPr/>
            <p:nvPr/>
          </p:nvSpPr>
          <p:spPr>
            <a:xfrm>
              <a:off x="0" y="0"/>
              <a:ext cx="425196" cy="425196"/>
            </a:xfrm>
            <a:custGeom>
              <a:avLst/>
              <a:gdLst/>
              <a:ahLst/>
              <a:cxnLst/>
              <a:rect l="l" t="t" r="r" b="b"/>
              <a:pathLst>
                <a:path w="425196" h="425196">
                  <a:moveTo>
                    <a:pt x="0" y="28321"/>
                  </a:moveTo>
                  <a:cubicBezTo>
                    <a:pt x="0" y="12700"/>
                    <a:pt x="12700" y="0"/>
                    <a:pt x="28321" y="0"/>
                  </a:cubicBezTo>
                  <a:lnTo>
                    <a:pt x="396875" y="0"/>
                  </a:lnTo>
                  <a:cubicBezTo>
                    <a:pt x="412496" y="0"/>
                    <a:pt x="425196" y="12700"/>
                    <a:pt x="425196" y="28321"/>
                  </a:cubicBezTo>
                  <a:lnTo>
                    <a:pt x="425196" y="396875"/>
                  </a:lnTo>
                  <a:cubicBezTo>
                    <a:pt x="425196" y="412496"/>
                    <a:pt x="412496" y="425196"/>
                    <a:pt x="396875" y="425196"/>
                  </a:cubicBezTo>
                  <a:lnTo>
                    <a:pt x="28321" y="425196"/>
                  </a:lnTo>
                  <a:cubicBezTo>
                    <a:pt x="12700" y="425196"/>
                    <a:pt x="0" y="412496"/>
                    <a:pt x="0" y="396875"/>
                  </a:cubicBezTo>
                  <a:close/>
                </a:path>
              </a:pathLst>
            </a:custGeom>
            <a:solidFill>
              <a:srgbClr val="484B51"/>
            </a:solidFill>
            <a:ln w="12700">
              <a:solidFill>
                <a:srgbClr val="000000"/>
              </a:solidFill>
            </a:ln>
          </p:spPr>
        </p:sp>
      </p:grpSp>
      <p:sp>
        <p:nvSpPr>
          <p:cNvPr id="21" name="Freeform 21" descr="preencoded.png"/>
          <p:cNvSpPr/>
          <p:nvPr/>
        </p:nvSpPr>
        <p:spPr>
          <a:xfrm>
            <a:off x="404307" y="4988491"/>
            <a:ext cx="212526" cy="212526"/>
          </a:xfrm>
          <a:custGeom>
            <a:avLst/>
            <a:gdLst/>
            <a:ahLst/>
            <a:cxnLst/>
            <a:rect l="l" t="t" r="r" b="b"/>
            <a:pathLst>
              <a:path w="212526" h="212526">
                <a:moveTo>
                  <a:pt x="0" y="0"/>
                </a:moveTo>
                <a:lnTo>
                  <a:pt x="212526" y="0"/>
                </a:lnTo>
                <a:lnTo>
                  <a:pt x="212526" y="212526"/>
                </a:lnTo>
                <a:lnTo>
                  <a:pt x="0" y="212526"/>
                </a:lnTo>
                <a:lnTo>
                  <a:pt x="0" y="0"/>
                </a:lnTo>
                <a:close/>
              </a:path>
            </a:pathLst>
          </a:custGeom>
          <a:blipFill>
            <a:blip>
              <a:extLst>
                <a:ext uri="{96DAC541-7B7A-43D3-8B79-37D633B846F1}">
                  <asvg:svgBlip xmlns:asvg="http://schemas.microsoft.com/office/drawing/2016/SVG/main" r:embed="rId3"/>
                </a:ext>
              </a:extLst>
            </a:blip>
            <a:stretch>
              <a:fillRect t="-6521" b="-6521"/>
            </a:stretch>
          </a:blipFill>
        </p:spPr>
      </p:sp>
      <p:sp>
        <p:nvSpPr>
          <p:cNvPr id="22" name="TextBox 22"/>
          <p:cNvSpPr txBox="1"/>
          <p:nvPr/>
        </p:nvSpPr>
        <p:spPr>
          <a:xfrm>
            <a:off x="933915" y="5084873"/>
            <a:ext cx="3439109" cy="247632"/>
          </a:xfrm>
          <a:prstGeom prst="rect">
            <a:avLst/>
          </a:prstGeom>
        </p:spPr>
        <p:txBody>
          <a:bodyPr wrap="square" lIns="0" tIns="0" rIns="0" bIns="0" rtlCol="0" anchor="t">
            <a:spAutoFit/>
          </a:bodyPr>
          <a:lstStyle/>
          <a:p>
            <a:pPr algn="l">
              <a:lnSpc>
                <a:spcPts val="1687"/>
              </a:lnSpc>
            </a:pPr>
            <a:r>
              <a:rPr lang="en-US" sz="2800" b="1" dirty="0">
                <a:solidFill>
                  <a:srgbClr val="D4D4D1"/>
                </a:solidFill>
                <a:latin typeface="Times New Roman" panose="02020603050405020304" pitchFamily="18" charset="0"/>
                <a:ea typeface="IBM Plex Sans Medium"/>
                <a:cs typeface="Times New Roman" panose="02020603050405020304" pitchFamily="18" charset="0"/>
                <a:sym typeface="IBM Plex Sans Medium"/>
              </a:rPr>
              <a:t>Future AI Innovation</a:t>
            </a:r>
          </a:p>
        </p:txBody>
      </p:sp>
      <p:sp>
        <p:nvSpPr>
          <p:cNvPr id="23" name="TextBox 23"/>
          <p:cNvSpPr txBox="1"/>
          <p:nvPr/>
        </p:nvSpPr>
        <p:spPr>
          <a:xfrm>
            <a:off x="903734" y="5332505"/>
            <a:ext cx="7577732" cy="738664"/>
          </a:xfrm>
          <a:prstGeom prst="rect">
            <a:avLst/>
          </a:prstGeom>
        </p:spPr>
        <p:txBody>
          <a:bodyPr wrap="square" lIns="0" tIns="0" rIns="0" bIns="0" rtlCol="0" anchor="t">
            <a:spAutoFit/>
          </a:bodyPr>
          <a:lstStyle/>
          <a:p>
            <a:pPr algn="l"/>
            <a:r>
              <a:rPr lang="en-US" sz="2400" dirty="0">
                <a:solidFill>
                  <a:srgbClr val="D4D4D1"/>
                </a:solidFill>
                <a:latin typeface="Times New Roman" panose="02020603050405020304" pitchFamily="18" charset="0"/>
                <a:ea typeface="Roboto"/>
                <a:cs typeface="Times New Roman" panose="02020603050405020304" pitchFamily="18" charset="0"/>
                <a:sym typeface="Roboto"/>
              </a:rPr>
              <a:t>Exploring applications in glaucoma detection, age-related macular degeneration, and other vision-threatening conditions</a:t>
            </a:r>
          </a:p>
        </p:txBody>
      </p:sp>
      <p:grpSp>
        <p:nvGrpSpPr>
          <p:cNvPr id="24" name="Group 24"/>
          <p:cNvGrpSpPr>
            <a:grpSpLocks noChangeAspect="1"/>
          </p:cNvGrpSpPr>
          <p:nvPr/>
        </p:nvGrpSpPr>
        <p:grpSpPr>
          <a:xfrm>
            <a:off x="11090522" y="1204615"/>
            <a:ext cx="6710809" cy="6710809"/>
            <a:chOff x="0" y="0"/>
            <a:chExt cx="8947745" cy="8947745"/>
          </a:xfrm>
        </p:grpSpPr>
        <p:sp>
          <p:nvSpPr>
            <p:cNvPr id="25" name="Freeform 25" descr="preencoded.png"/>
            <p:cNvSpPr/>
            <p:nvPr/>
          </p:nvSpPr>
          <p:spPr>
            <a:xfrm>
              <a:off x="0" y="0"/>
              <a:ext cx="8947785" cy="8947785"/>
            </a:xfrm>
            <a:custGeom>
              <a:avLst/>
              <a:gdLst/>
              <a:ahLst/>
              <a:cxnLst/>
              <a:rect l="l" t="t" r="r" b="b"/>
              <a:pathLst>
                <a:path w="8947785" h="8947785">
                  <a:moveTo>
                    <a:pt x="0" y="0"/>
                  </a:moveTo>
                  <a:lnTo>
                    <a:pt x="8947785" y="0"/>
                  </a:lnTo>
                  <a:lnTo>
                    <a:pt x="8947785" y="8947785"/>
                  </a:lnTo>
                  <a:lnTo>
                    <a:pt x="0" y="8947785"/>
                  </a:lnTo>
                  <a:lnTo>
                    <a:pt x="0" y="0"/>
                  </a:lnTo>
                  <a:close/>
                </a:path>
              </a:pathLst>
            </a:custGeom>
            <a:blipFill>
              <a:blip r:embed="rId4"/>
              <a:stretch>
                <a:fillRect/>
              </a:stretch>
            </a:blipFill>
          </p:spPr>
        </p:sp>
      </p:grpSp>
      <p:sp>
        <p:nvSpPr>
          <p:cNvPr id="28" name="Freeform 21" descr="preencoded.png">
            <a:extLst>
              <a:ext uri="{FF2B5EF4-FFF2-40B4-BE49-F238E27FC236}">
                <a16:creationId xmlns:a16="http://schemas.microsoft.com/office/drawing/2014/main" id="{CB22F131-8AB8-0AC4-8EC1-BC275815F646}"/>
              </a:ext>
            </a:extLst>
          </p:cNvPr>
          <p:cNvSpPr/>
          <p:nvPr/>
        </p:nvSpPr>
        <p:spPr>
          <a:xfrm>
            <a:off x="402388" y="6691967"/>
            <a:ext cx="212526" cy="212526"/>
          </a:xfrm>
          <a:custGeom>
            <a:avLst/>
            <a:gdLst/>
            <a:ahLst/>
            <a:cxnLst/>
            <a:rect l="l" t="t" r="r" b="b"/>
            <a:pathLst>
              <a:path w="212526" h="212526">
                <a:moveTo>
                  <a:pt x="0" y="0"/>
                </a:moveTo>
                <a:lnTo>
                  <a:pt x="212526" y="0"/>
                </a:lnTo>
                <a:lnTo>
                  <a:pt x="212526" y="212526"/>
                </a:lnTo>
                <a:lnTo>
                  <a:pt x="0" y="212526"/>
                </a:lnTo>
                <a:lnTo>
                  <a:pt x="0" y="0"/>
                </a:lnTo>
                <a:close/>
              </a:path>
            </a:pathLst>
          </a:custGeom>
          <a:blipFill>
            <a:blip>
              <a:extLst>
                <a:ext uri="{96DAC541-7B7A-43D3-8B79-37D633B846F1}">
                  <asvg:svgBlip xmlns:asvg="http://schemas.microsoft.com/office/drawing/2016/SVG/main" r:embed="rId3"/>
                </a:ext>
              </a:extLst>
            </a:blip>
            <a:stretch>
              <a:fillRect t="-6521" b="-6521"/>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2242A"/>
            </a:solidFill>
            <a:ln w="12700">
              <a:solidFill>
                <a:srgbClr val="000000"/>
              </a:solidFill>
            </a:ln>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92C32"/>
            </a:solidFill>
            <a:ln w="12700">
              <a:solidFill>
                <a:srgbClr val="000000"/>
              </a:solidFill>
            </a:ln>
          </p:spPr>
        </p:sp>
      </p:grpSp>
      <p:grpSp>
        <p:nvGrpSpPr>
          <p:cNvPr id="6" name="Group 6"/>
          <p:cNvGrpSpPr>
            <a:grpSpLocks noChangeAspect="1"/>
          </p:cNvGrpSpPr>
          <p:nvPr/>
        </p:nvGrpSpPr>
        <p:grpSpPr>
          <a:xfrm>
            <a:off x="0" y="0"/>
            <a:ext cx="6858000" cy="10287000"/>
            <a:chOff x="0" y="0"/>
            <a:chExt cx="9144000" cy="13716000"/>
          </a:xfrm>
        </p:grpSpPr>
        <p:sp>
          <p:nvSpPr>
            <p:cNvPr id="7" name="Freeform 7"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3"/>
              <a:stretch>
                <a:fillRect/>
              </a:stretch>
            </a:blipFill>
          </p:spPr>
        </p:sp>
      </p:grpSp>
      <p:sp>
        <p:nvSpPr>
          <p:cNvPr id="8" name="TextBox 8"/>
          <p:cNvSpPr txBox="1"/>
          <p:nvPr/>
        </p:nvSpPr>
        <p:spPr>
          <a:xfrm>
            <a:off x="7626251" y="1410741"/>
            <a:ext cx="9893499" cy="4153792"/>
          </a:xfrm>
          <a:prstGeom prst="rect">
            <a:avLst/>
          </a:prstGeom>
        </p:spPr>
        <p:txBody>
          <a:bodyPr lIns="0" tIns="0" rIns="0" bIns="0" rtlCol="0" anchor="t">
            <a:spAutoFit/>
          </a:bodyPr>
          <a:lstStyle/>
          <a:p>
            <a:pPr algn="l">
              <a:lnSpc>
                <a:spcPts val="10749"/>
              </a:lnSpc>
            </a:pPr>
            <a:r>
              <a:rPr lang="en-US" sz="8624" b="1" dirty="0">
                <a:solidFill>
                  <a:srgbClr val="F3F3F2"/>
                </a:solidFill>
                <a:latin typeface="Times New Roman" panose="02020603050405020304" pitchFamily="18" charset="0"/>
                <a:ea typeface="IBM Plex Sans Medium"/>
                <a:cs typeface="Times New Roman" panose="02020603050405020304" pitchFamily="18" charset="0"/>
                <a:sym typeface="IBM Plex Sans Medium"/>
              </a:rPr>
              <a:t>Empowering Ophthalmologists, </a:t>
            </a:r>
            <a:r>
              <a:rPr lang="en-US" sz="8624" b="1" dirty="0">
                <a:solidFill>
                  <a:srgbClr val="FFBC8F"/>
                </a:solidFill>
                <a:latin typeface="Times New Roman" panose="02020603050405020304" pitchFamily="18" charset="0"/>
                <a:ea typeface="IBM Plex Sans Medium"/>
                <a:cs typeface="Times New Roman" panose="02020603050405020304" pitchFamily="18" charset="0"/>
                <a:sym typeface="IBM Plex Sans Medium"/>
              </a:rPr>
              <a:t>Protecting Vision</a:t>
            </a:r>
          </a:p>
        </p:txBody>
      </p:sp>
      <p:grpSp>
        <p:nvGrpSpPr>
          <p:cNvPr id="9" name="Group 9"/>
          <p:cNvGrpSpPr/>
          <p:nvPr/>
        </p:nvGrpSpPr>
        <p:grpSpPr>
          <a:xfrm>
            <a:off x="7626251" y="5893742"/>
            <a:ext cx="493811" cy="493811"/>
            <a:chOff x="0" y="0"/>
            <a:chExt cx="658415" cy="658415"/>
          </a:xfrm>
        </p:grpSpPr>
        <p:sp>
          <p:nvSpPr>
            <p:cNvPr id="10" name="Freeform 10"/>
            <p:cNvSpPr/>
            <p:nvPr/>
          </p:nvSpPr>
          <p:spPr>
            <a:xfrm>
              <a:off x="0" y="0"/>
              <a:ext cx="658495" cy="658495"/>
            </a:xfrm>
            <a:custGeom>
              <a:avLst/>
              <a:gdLst/>
              <a:ahLst/>
              <a:cxnLst/>
              <a:rect l="l" t="t" r="r" b="b"/>
              <a:pathLst>
                <a:path w="658495" h="658495">
                  <a:moveTo>
                    <a:pt x="0" y="43942"/>
                  </a:moveTo>
                  <a:cubicBezTo>
                    <a:pt x="0" y="19685"/>
                    <a:pt x="19685" y="0"/>
                    <a:pt x="43942" y="0"/>
                  </a:cubicBezTo>
                  <a:lnTo>
                    <a:pt x="614553" y="0"/>
                  </a:lnTo>
                  <a:cubicBezTo>
                    <a:pt x="638810" y="0"/>
                    <a:pt x="658495" y="19685"/>
                    <a:pt x="658495" y="43942"/>
                  </a:cubicBezTo>
                  <a:lnTo>
                    <a:pt x="658495" y="614553"/>
                  </a:lnTo>
                  <a:cubicBezTo>
                    <a:pt x="658495" y="638810"/>
                    <a:pt x="638810" y="658495"/>
                    <a:pt x="614553" y="658495"/>
                  </a:cubicBezTo>
                  <a:lnTo>
                    <a:pt x="43942" y="658495"/>
                  </a:lnTo>
                  <a:cubicBezTo>
                    <a:pt x="19685" y="658368"/>
                    <a:pt x="0" y="638810"/>
                    <a:pt x="0" y="614553"/>
                  </a:cubicBezTo>
                  <a:close/>
                </a:path>
              </a:pathLst>
            </a:custGeom>
            <a:solidFill>
              <a:srgbClr val="484B51"/>
            </a:solidFill>
            <a:ln w="12700">
              <a:solidFill>
                <a:srgbClr val="000000"/>
              </a:solidFill>
            </a:ln>
          </p:spPr>
        </p:sp>
      </p:grpSp>
      <p:sp>
        <p:nvSpPr>
          <p:cNvPr id="11" name="TextBox 11"/>
          <p:cNvSpPr txBox="1"/>
          <p:nvPr/>
        </p:nvSpPr>
        <p:spPr>
          <a:xfrm>
            <a:off x="7708552" y="5992044"/>
            <a:ext cx="329208" cy="354360"/>
          </a:xfrm>
          <a:prstGeom prst="rect">
            <a:avLst/>
          </a:prstGeom>
        </p:spPr>
        <p:txBody>
          <a:bodyPr lIns="0" tIns="0" rIns="0" bIns="0" rtlCol="0" anchor="t">
            <a:spAutoFit/>
          </a:bodyPr>
          <a:lstStyle/>
          <a:p>
            <a:pPr algn="ctr">
              <a:lnSpc>
                <a:spcPts val="2562"/>
              </a:lnSpc>
            </a:pPr>
            <a:r>
              <a:rPr lang="en-US" sz="2562" b="1">
                <a:solidFill>
                  <a:srgbClr val="D4D4D1"/>
                </a:solidFill>
                <a:latin typeface="IBM Plex Sans Medium"/>
                <a:ea typeface="IBM Plex Sans Medium"/>
                <a:cs typeface="IBM Plex Sans Medium"/>
                <a:sym typeface="IBM Plex Sans Medium"/>
              </a:rPr>
              <a:t>1</a:t>
            </a:r>
          </a:p>
        </p:txBody>
      </p:sp>
      <p:sp>
        <p:nvSpPr>
          <p:cNvPr id="12" name="TextBox 12"/>
          <p:cNvSpPr txBox="1"/>
          <p:nvPr/>
        </p:nvSpPr>
        <p:spPr>
          <a:xfrm>
            <a:off x="8339584" y="5950149"/>
            <a:ext cx="2743944" cy="346249"/>
          </a:xfrm>
          <a:prstGeom prst="rect">
            <a:avLst/>
          </a:prstGeom>
        </p:spPr>
        <p:txBody>
          <a:bodyPr lIns="0" tIns="0" rIns="0" bIns="0" rtlCol="0" anchor="t">
            <a:spAutoFit/>
          </a:bodyPr>
          <a:lstStyle/>
          <a:p>
            <a:pPr algn="l">
              <a:lnSpc>
                <a:spcPts val="2687"/>
              </a:lnSpc>
            </a:pPr>
            <a:r>
              <a:rPr lang="en-US" sz="2800" b="1" dirty="0">
                <a:solidFill>
                  <a:srgbClr val="D4D4D1"/>
                </a:solidFill>
                <a:latin typeface="Times New Roman" panose="02020603050405020304" pitchFamily="18" charset="0"/>
                <a:ea typeface="IBM Plex Sans Medium"/>
                <a:cs typeface="Times New Roman" panose="02020603050405020304" pitchFamily="18" charset="0"/>
                <a:sym typeface="IBM Plex Sans Medium"/>
              </a:rPr>
              <a:t>Our Mission</a:t>
            </a:r>
          </a:p>
        </p:txBody>
      </p:sp>
      <p:sp>
        <p:nvSpPr>
          <p:cNvPr id="13" name="TextBox 13"/>
          <p:cNvSpPr txBox="1"/>
          <p:nvPr/>
        </p:nvSpPr>
        <p:spPr>
          <a:xfrm>
            <a:off x="8339584" y="6367760"/>
            <a:ext cx="9180165" cy="1038746"/>
          </a:xfrm>
          <a:prstGeom prst="rect">
            <a:avLst/>
          </a:prstGeom>
        </p:spPr>
        <p:txBody>
          <a:bodyPr lIns="0" tIns="0" rIns="0" bIns="0" rtlCol="0" anchor="t">
            <a:spAutoFit/>
          </a:bodyPr>
          <a:lstStyle/>
          <a:p>
            <a:pPr algn="l">
              <a:lnSpc>
                <a:spcPts val="2749"/>
              </a:lnSpc>
            </a:pPr>
            <a:r>
              <a:rPr lang="en-US" sz="2400" dirty="0">
                <a:solidFill>
                  <a:srgbClr val="D4D4D1"/>
                </a:solidFill>
                <a:latin typeface="Times New Roman" panose="02020603050405020304" pitchFamily="18" charset="0"/>
                <a:ea typeface="Roboto"/>
                <a:cs typeface="Times New Roman" panose="02020603050405020304" pitchFamily="18" charset="0"/>
                <a:sym typeface="Roboto"/>
              </a:rPr>
              <a:t>Drishti represents a transformative leap forward in Diabetic Retinopathy management, combining cutting-edge AI with accessible technology to prevent blindness worldwide</a:t>
            </a:r>
          </a:p>
        </p:txBody>
      </p:sp>
      <p:grpSp>
        <p:nvGrpSpPr>
          <p:cNvPr id="14" name="Group 14"/>
          <p:cNvGrpSpPr/>
          <p:nvPr/>
        </p:nvGrpSpPr>
        <p:grpSpPr>
          <a:xfrm>
            <a:off x="7626251" y="7585473"/>
            <a:ext cx="493811" cy="493811"/>
            <a:chOff x="0" y="0"/>
            <a:chExt cx="658415" cy="658415"/>
          </a:xfrm>
        </p:grpSpPr>
        <p:sp>
          <p:nvSpPr>
            <p:cNvPr id="15" name="Freeform 15"/>
            <p:cNvSpPr/>
            <p:nvPr/>
          </p:nvSpPr>
          <p:spPr>
            <a:xfrm>
              <a:off x="0" y="0"/>
              <a:ext cx="658495" cy="658495"/>
            </a:xfrm>
            <a:custGeom>
              <a:avLst/>
              <a:gdLst/>
              <a:ahLst/>
              <a:cxnLst/>
              <a:rect l="l" t="t" r="r" b="b"/>
              <a:pathLst>
                <a:path w="658495" h="658495">
                  <a:moveTo>
                    <a:pt x="0" y="43942"/>
                  </a:moveTo>
                  <a:cubicBezTo>
                    <a:pt x="0" y="19685"/>
                    <a:pt x="19685" y="0"/>
                    <a:pt x="43942" y="0"/>
                  </a:cubicBezTo>
                  <a:lnTo>
                    <a:pt x="614553" y="0"/>
                  </a:lnTo>
                  <a:cubicBezTo>
                    <a:pt x="638810" y="0"/>
                    <a:pt x="658495" y="19685"/>
                    <a:pt x="658495" y="43942"/>
                  </a:cubicBezTo>
                  <a:lnTo>
                    <a:pt x="658495" y="614553"/>
                  </a:lnTo>
                  <a:cubicBezTo>
                    <a:pt x="658495" y="638810"/>
                    <a:pt x="638810" y="658495"/>
                    <a:pt x="614553" y="658495"/>
                  </a:cubicBezTo>
                  <a:lnTo>
                    <a:pt x="43942" y="658495"/>
                  </a:lnTo>
                  <a:cubicBezTo>
                    <a:pt x="19685" y="658368"/>
                    <a:pt x="0" y="638810"/>
                    <a:pt x="0" y="614553"/>
                  </a:cubicBezTo>
                  <a:close/>
                </a:path>
              </a:pathLst>
            </a:custGeom>
            <a:solidFill>
              <a:srgbClr val="484B51"/>
            </a:solidFill>
            <a:ln w="12700">
              <a:solidFill>
                <a:srgbClr val="000000"/>
              </a:solidFill>
            </a:ln>
          </p:spPr>
        </p:sp>
      </p:grpSp>
      <p:sp>
        <p:nvSpPr>
          <p:cNvPr id="16" name="TextBox 16"/>
          <p:cNvSpPr txBox="1"/>
          <p:nvPr/>
        </p:nvSpPr>
        <p:spPr>
          <a:xfrm>
            <a:off x="7708552" y="7683772"/>
            <a:ext cx="329208" cy="354360"/>
          </a:xfrm>
          <a:prstGeom prst="rect">
            <a:avLst/>
          </a:prstGeom>
        </p:spPr>
        <p:txBody>
          <a:bodyPr lIns="0" tIns="0" rIns="0" bIns="0" rtlCol="0" anchor="t">
            <a:spAutoFit/>
          </a:bodyPr>
          <a:lstStyle/>
          <a:p>
            <a:pPr algn="ctr">
              <a:lnSpc>
                <a:spcPts val="2562"/>
              </a:lnSpc>
            </a:pPr>
            <a:r>
              <a:rPr lang="en-US" sz="2562" b="1">
                <a:solidFill>
                  <a:srgbClr val="D4D4D1"/>
                </a:solidFill>
                <a:latin typeface="IBM Plex Sans Medium"/>
                <a:ea typeface="IBM Plex Sans Medium"/>
                <a:cs typeface="IBM Plex Sans Medium"/>
                <a:sym typeface="IBM Plex Sans Medium"/>
              </a:rPr>
              <a:t>2</a:t>
            </a:r>
          </a:p>
        </p:txBody>
      </p:sp>
      <p:sp>
        <p:nvSpPr>
          <p:cNvPr id="17" name="TextBox 17"/>
          <p:cNvSpPr txBox="1"/>
          <p:nvPr/>
        </p:nvSpPr>
        <p:spPr>
          <a:xfrm>
            <a:off x="8339584" y="7641877"/>
            <a:ext cx="3852416" cy="346249"/>
          </a:xfrm>
          <a:prstGeom prst="rect">
            <a:avLst/>
          </a:prstGeom>
        </p:spPr>
        <p:txBody>
          <a:bodyPr wrap="square" lIns="0" tIns="0" rIns="0" bIns="0" rtlCol="0" anchor="t">
            <a:spAutoFit/>
          </a:bodyPr>
          <a:lstStyle/>
          <a:p>
            <a:pPr algn="l">
              <a:lnSpc>
                <a:spcPts val="2687"/>
              </a:lnSpc>
            </a:pPr>
            <a:r>
              <a:rPr lang="en-US" sz="2800" b="1" dirty="0">
                <a:solidFill>
                  <a:srgbClr val="D4D4D1"/>
                </a:solidFill>
                <a:latin typeface="Times New Roman" panose="02020603050405020304" pitchFamily="18" charset="0"/>
                <a:ea typeface="IBM Plex Sans Medium"/>
                <a:cs typeface="Times New Roman" panose="02020603050405020304" pitchFamily="18" charset="0"/>
                <a:sym typeface="IBM Plex Sans Medium"/>
              </a:rPr>
              <a:t>Join the Movement</a:t>
            </a:r>
          </a:p>
        </p:txBody>
      </p:sp>
      <p:sp>
        <p:nvSpPr>
          <p:cNvPr id="18" name="TextBox 18"/>
          <p:cNvSpPr txBox="1"/>
          <p:nvPr/>
        </p:nvSpPr>
        <p:spPr>
          <a:xfrm>
            <a:off x="8339584" y="8059490"/>
            <a:ext cx="9180165" cy="1038746"/>
          </a:xfrm>
          <a:prstGeom prst="rect">
            <a:avLst/>
          </a:prstGeom>
        </p:spPr>
        <p:txBody>
          <a:bodyPr lIns="0" tIns="0" rIns="0" bIns="0" rtlCol="0" anchor="t">
            <a:spAutoFit/>
          </a:bodyPr>
          <a:lstStyle/>
          <a:p>
            <a:pPr algn="l">
              <a:lnSpc>
                <a:spcPts val="2749"/>
              </a:lnSpc>
            </a:pPr>
            <a:r>
              <a:rPr lang="en-US" sz="2400" dirty="0">
                <a:solidFill>
                  <a:srgbClr val="D4D4D1"/>
                </a:solidFill>
                <a:latin typeface="Times New Roman" panose="02020603050405020304" pitchFamily="18" charset="0"/>
                <a:ea typeface="Roboto"/>
                <a:cs typeface="Times New Roman" panose="02020603050405020304" pitchFamily="18" charset="0"/>
                <a:sym typeface="Roboto"/>
              </a:rPr>
              <a:t>Partner with Drishti to combat preventable blindness, improve patient outcomes, and revolutionize ophthalmic care in your practice or healthcare system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98</TotalTime>
  <Words>706</Words>
  <Application>Microsoft Office PowerPoint</Application>
  <PresentationFormat>Custom</PresentationFormat>
  <Paragraphs>88</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Times New Roman</vt:lpstr>
      <vt:lpstr>IBM Plex Sans Medium</vt:lpstr>
      <vt:lpstr>Calibri</vt:lpstr>
      <vt:lpstr>Roboto</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Drishti-Preventing-Blindness-Through-AI-Powered-Diabetic-Retinopathy-Detection.pptx</dc:title>
  <cp:lastModifiedBy>Ananya Chaudhary</cp:lastModifiedBy>
  <cp:revision>2</cp:revision>
  <dcterms:created xsi:type="dcterms:W3CDTF">2006-08-16T00:00:00Z</dcterms:created>
  <dcterms:modified xsi:type="dcterms:W3CDTF">2026-05-04T16:51:52Z</dcterms:modified>
  <dc:identifier>DAG5D1jKzuM</dc:identifier>
</cp:coreProperties>
</file>